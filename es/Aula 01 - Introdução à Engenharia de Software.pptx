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4" r:id="rId2"/>
    <p:sldMasterId id="2147483655" r:id="rId3"/>
  </p:sldMasterIdLst>
  <p:notesMasterIdLst>
    <p:notesMasterId r:id="rId34"/>
  </p:notesMasterIdLst>
  <p:handoutMasterIdLst>
    <p:handoutMasterId r:id="rId35"/>
  </p:handoutMasterIdLst>
  <p:sldIdLst>
    <p:sldId id="358" r:id="rId4"/>
    <p:sldId id="380" r:id="rId5"/>
    <p:sldId id="381" r:id="rId6"/>
    <p:sldId id="382" r:id="rId7"/>
    <p:sldId id="383" r:id="rId8"/>
    <p:sldId id="384" r:id="rId9"/>
    <p:sldId id="385" r:id="rId10"/>
    <p:sldId id="387" r:id="rId11"/>
    <p:sldId id="388" r:id="rId12"/>
    <p:sldId id="38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1" r:id="rId24"/>
    <p:sldId id="402" r:id="rId25"/>
    <p:sldId id="403" r:id="rId26"/>
    <p:sldId id="404" r:id="rId27"/>
    <p:sldId id="405" r:id="rId28"/>
    <p:sldId id="406" r:id="rId29"/>
    <p:sldId id="407" r:id="rId30"/>
    <p:sldId id="408" r:id="rId31"/>
    <p:sldId id="376" r:id="rId32"/>
    <p:sldId id="409" r:id="rId33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84460" autoAdjust="0"/>
  </p:normalViewPr>
  <p:slideViewPr>
    <p:cSldViewPr snapToGrid="0">
      <p:cViewPr varScale="1">
        <p:scale>
          <a:sx n="46" d="100"/>
          <a:sy n="46" d="100"/>
        </p:scale>
        <p:origin x="654" y="42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notesViewPr>
    <p:cSldViewPr snapToGrid="0">
      <p:cViewPr varScale="1">
        <p:scale>
          <a:sx n="52" d="100"/>
          <a:sy n="52" d="100"/>
        </p:scale>
        <p:origin x="29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05CFC1C3-A371-7890-30EA-0F391F4BB9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019F883-B448-F3F3-640C-9D71E016A5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CB61D6-1934-462B-BD71-E72A3505928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D2451B8-C77A-467E-FE15-5E321A473B4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F08B895-081D-7736-95CA-2E4DACCC14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95E1B9-097C-4DA4-A579-67AF7DD064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3823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t>2026/2/23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141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29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54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2"/>
      <p:bldP spid="14" grpId="0"/>
      <p:bldP spid="14" grpId="2"/>
      <p:bldP spid="15" grpId="0"/>
      <p:bldP spid="15" grpId="2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88821" y="4569818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62963" y="2034923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51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85783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2" name="Imagem 1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23" y="482903"/>
            <a:ext cx="2658086" cy="1005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50"/>
                            </p:stCondLst>
                            <p:childTnLst>
                              <p:par>
                                <p:cTn id="6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750"/>
                            </p:stCondLst>
                            <p:childTnLst>
                              <p:par>
                                <p:cTn id="7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75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250"/>
                            </p:stCondLst>
                            <p:childTnLst>
                              <p:par>
                                <p:cTn id="1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75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25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75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2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6750"/>
                            </p:stCondLst>
                            <p:childTnLst>
                              <p:par>
                                <p:cTn id="1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725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261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63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00"/>
                            </p:stCondLst>
                            <p:childTnLst>
                              <p:par>
                                <p:cTn id="3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4D3506C-3878-8029-8D82-0CDDA709E334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544" y="9324315"/>
            <a:ext cx="4198293" cy="96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BAEB76-0362-BA87-E3F5-5BA15E5CB80C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544" y="9324315"/>
            <a:ext cx="4198293" cy="96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61F6B6-DCA8-2E44-066F-27A673226F5E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9544" y="9324315"/>
            <a:ext cx="4198293" cy="96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</p:sldLayoutIdLst>
  <p:hf hdr="0" ft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8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sz="7200" dirty="0" err="1">
                <a:latin typeface="Route 159 Bold" panose="00000800000000000000" pitchFamily="50" charset="0"/>
              </a:rPr>
              <a:t>Introdução</a:t>
            </a:r>
            <a:r>
              <a:rPr lang="en-US" altLang="ja-JP" sz="7200" dirty="0">
                <a:latin typeface="Route 159 Bold" panose="00000800000000000000" pitchFamily="50" charset="0"/>
              </a:rPr>
              <a:t> a </a:t>
            </a:r>
            <a:r>
              <a:rPr lang="en-US" altLang="ja-JP" sz="7200" dirty="0" err="1">
                <a:latin typeface="Route 159 Bold" panose="00000800000000000000" pitchFamily="50" charset="0"/>
              </a:rPr>
              <a:t>Engenharia</a:t>
            </a:r>
            <a:r>
              <a:rPr lang="en-US" altLang="ja-JP" sz="7200" dirty="0">
                <a:latin typeface="Route 159 Bold" panose="00000800000000000000" pitchFamily="50" charset="0"/>
              </a:rPr>
              <a:t> de Software</a:t>
            </a:r>
            <a:endParaRPr kumimoji="1" lang="ja-JP" altLang="en-US" sz="7200" dirty="0">
              <a:latin typeface="Route 159 Bold" panose="00000800000000000000" pitchFamily="50" charset="0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ja-JP" sz="2800" dirty="0">
                <a:solidFill>
                  <a:schemeClr val="tx1"/>
                </a:solidFill>
                <a:latin typeface="Route 159 Bold" panose="00000800000000000000" pitchFamily="50" charset="0"/>
              </a:rPr>
              <a:t>Professor: Daniel Marques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0"/>
          </p:nvPr>
        </p:nvSpPr>
        <p:spPr>
          <a:xfrm>
            <a:off x="1366342" y="6179320"/>
            <a:ext cx="15553728" cy="864046"/>
          </a:xfrm>
        </p:spPr>
        <p:txBody>
          <a:bodyPr/>
          <a:lstStyle/>
          <a:p>
            <a:r>
              <a:rPr lang="en-US" altLang="ja-JP" dirty="0">
                <a:latin typeface="Route 159 Bold" panose="00000800000000000000" pitchFamily="50" charset="0"/>
              </a:rPr>
              <a:t>Aula 01 – </a:t>
            </a:r>
            <a:r>
              <a:rPr lang="en-US" altLang="ja-JP" dirty="0" err="1">
                <a:latin typeface="Route 159 Bold" panose="00000800000000000000" pitchFamily="50" charset="0"/>
              </a:rPr>
              <a:t>Engenharia</a:t>
            </a:r>
            <a:r>
              <a:rPr lang="en-US" altLang="ja-JP" dirty="0">
                <a:latin typeface="Route 159 Bold" panose="00000800000000000000" pitchFamily="50" charset="0"/>
              </a:rPr>
              <a:t> de Software e </a:t>
            </a:r>
            <a:r>
              <a:rPr lang="en-US" altLang="ja-JP" dirty="0" err="1">
                <a:latin typeface="Route 159 Bold" panose="00000800000000000000" pitchFamily="50" charset="0"/>
              </a:rPr>
              <a:t>gestão</a:t>
            </a:r>
            <a:r>
              <a:rPr lang="en-US" altLang="ja-JP" dirty="0">
                <a:latin typeface="Route 159 Bold" panose="00000800000000000000" pitchFamily="50" charset="0"/>
              </a:rPr>
              <a:t> de times </a:t>
            </a:r>
            <a:r>
              <a:rPr lang="en-US" altLang="ja-JP" dirty="0" err="1">
                <a:latin typeface="Route 159 Bold" panose="00000800000000000000" pitchFamily="50" charset="0"/>
              </a:rPr>
              <a:t>ágeis</a:t>
            </a:r>
            <a:endParaRPr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Revisão de Engenharia de Software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Ética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/>
              <a:t>O que é engenharia de software?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Processo e modelos de software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/>
              <a:t>Custos da Engenharia de Software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/>
              <a:t>Ferramentas CASE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5443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ço Reservado para Imagem 15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-650" r="8" b="-356"/>
          <a:stretch/>
        </p:blipFill>
        <p:spPr/>
      </p:pic>
      <p:sp>
        <p:nvSpPr>
          <p:cNvPr id="14" name="Título 13"/>
          <p:cNvSpPr>
            <a:spLocks noGrp="1"/>
          </p:cNvSpPr>
          <p:nvPr>
            <p:ph type="title"/>
          </p:nvPr>
        </p:nvSpPr>
        <p:spPr>
          <a:xfrm>
            <a:off x="0" y="5140325"/>
            <a:ext cx="5999957" cy="1170617"/>
          </a:xfrm>
        </p:spPr>
        <p:txBody>
          <a:bodyPr/>
          <a:lstStyle/>
          <a:p>
            <a:r>
              <a:rPr lang="pt-BR" dirty="0"/>
              <a:t>O problema</a:t>
            </a: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4294967295"/>
          </p:nvPr>
        </p:nvSpPr>
        <p:spPr>
          <a:xfrm>
            <a:off x="17205325" y="9432925"/>
            <a:ext cx="1081088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3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668758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Objetivos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2023050" y="2655891"/>
            <a:ext cx="14760000" cy="790352"/>
          </a:xfrm>
        </p:spPr>
        <p:txBody>
          <a:bodyPr/>
          <a:lstStyle/>
          <a:p>
            <a:r>
              <a:rPr lang="pt-BR" dirty="0"/>
              <a:t>Introduzir a Engenharia de Software e explicar sua importância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2023050" y="4866245"/>
            <a:ext cx="14622907" cy="790352"/>
          </a:xfrm>
        </p:spPr>
        <p:txBody>
          <a:bodyPr/>
          <a:lstStyle/>
          <a:p>
            <a:r>
              <a:rPr lang="pt-BR" dirty="0"/>
              <a:t>Responder a perguntas-chave sobre engenharia de software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8"/>
          </p:nvPr>
        </p:nvSpPr>
        <p:spPr>
          <a:xfrm>
            <a:off x="2021917" y="7082422"/>
            <a:ext cx="14624040" cy="790352"/>
          </a:xfrm>
        </p:spPr>
        <p:txBody>
          <a:bodyPr/>
          <a:lstStyle/>
          <a:p>
            <a:r>
              <a:rPr lang="pt-BR" dirty="0"/>
              <a:t>Introduzir questões éticas e profissionais e explicar essas questões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940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Tópicos abordados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5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5400" dirty="0">
                <a:latin typeface="Route 159 SemiBold" panose="00000700000000000000" pitchFamily="50" charset="0"/>
              </a:rPr>
              <a:t>Perguntas e respostas de engenharia de software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5400" dirty="0">
                <a:latin typeface="Route 159 SemiBold" panose="00000700000000000000" pitchFamily="50" charset="0"/>
              </a:rPr>
              <a:t>Responsabilidade ética e profissional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655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Engenharia de Software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6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3" name="Espaço Reservado para Imagem 22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4" name="Espaço Reservado para Imagem 23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25" name="Espaço Reservado para Imagem 24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6" name="Espaço Reservado para Imagem 25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27" name="Espaço Reservado para Texto 26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As economias de TODOS os países desenvolvidos são dependentes de software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Mais e mais sistemas são controlados por software</a:t>
            </a:r>
          </a:p>
        </p:txBody>
      </p:sp>
      <p:sp>
        <p:nvSpPr>
          <p:cNvPr id="29" name="Espaço Reservado para Texto 2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Engenharia de software diz respeito a teorias, métodos e ferramentas para desenvolvimento de software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Despesas com software representam uma fração significativa do PIB de países desenvolvidos.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8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7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1"/>
          </p:nvPr>
        </p:nvSpPr>
        <p:spPr>
          <a:xfrm>
            <a:off x="2628900" y="1058648"/>
            <a:ext cx="5521849" cy="720080"/>
          </a:xfrm>
        </p:spPr>
        <p:txBody>
          <a:bodyPr/>
          <a:lstStyle/>
          <a:p>
            <a:r>
              <a:rPr lang="pt-BR" dirty="0"/>
              <a:t>É a principal fatia do custo total de um sistema computacional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pPr algn="just"/>
            <a:r>
              <a:rPr lang="pt-BR" dirty="0"/>
              <a:t>Custo do programa é mais alto que o equipamento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30"/>
          </p:nvPr>
        </p:nvSpPr>
        <p:spPr>
          <a:xfrm>
            <a:off x="1219200" y="4485690"/>
            <a:ext cx="6931549" cy="720080"/>
          </a:xfrm>
        </p:spPr>
        <p:txBody>
          <a:bodyPr/>
          <a:lstStyle/>
          <a:p>
            <a:r>
              <a:rPr lang="pt-BR" dirty="0"/>
              <a:t>Os custos são maiores para manutenção do que para o desenvolvimento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pt-BR" dirty="0"/>
              <a:t>Sistemas com grande vida útil tem custos enormes</a:t>
            </a: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34"/>
          </p:nvPr>
        </p:nvSpPr>
        <p:spPr>
          <a:xfrm>
            <a:off x="2209800" y="7912732"/>
            <a:ext cx="5926435" cy="720080"/>
          </a:xfrm>
        </p:spPr>
        <p:txBody>
          <a:bodyPr/>
          <a:lstStyle/>
          <a:p>
            <a:r>
              <a:rPr lang="pt-BR" dirty="0"/>
              <a:t>Engenharia de SW se preocupa com a relação custo-eficiência</a:t>
            </a: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Custos de software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12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Perguntas sobre engenharia de software?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O que é software?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/>
              <a:t>O que é engenharia de software?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Qual a diferença para ciência da computação?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/>
              <a:t>O que é um processo de software?</a:t>
            </a:r>
          </a:p>
        </p:txBody>
      </p:sp>
      <p:sp>
        <p:nvSpPr>
          <p:cNvPr id="23" name="Espaço Reservado para Texto 2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/>
              <a:t>O que é um modelo de software?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8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5004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Perguntas sobre engenharia de software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Quais são os custos da Engenharia de Software?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Quais os métodos de Engenharia de Software?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O que é CASE? (</a:t>
            </a:r>
            <a:r>
              <a:rPr lang="pt-BR" dirty="0" err="1"/>
              <a:t>computer-aided</a:t>
            </a:r>
            <a:r>
              <a:rPr lang="pt-BR" dirty="0"/>
              <a:t> software </a:t>
            </a:r>
            <a:r>
              <a:rPr lang="pt-BR" dirty="0" err="1"/>
              <a:t>engeneering</a:t>
            </a:r>
            <a:r>
              <a:rPr lang="pt-BR" dirty="0"/>
              <a:t>)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2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Quais são os atributos de um bom software?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Quais os principais desafios enfrentados pela engenharia de software?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9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534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spaço Reservado para Imagem 1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4" b="13184"/>
          <a:stretch>
            <a:fillRect/>
          </a:stretch>
        </p:blipFill>
        <p:spPr/>
      </p:pic>
      <p:sp>
        <p:nvSpPr>
          <p:cNvPr id="14" name="Título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O que é software?</a:t>
            </a:r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10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>
          <a:xfrm>
            <a:off x="1078310" y="7673961"/>
            <a:ext cx="16535673" cy="2032671"/>
          </a:xfrm>
        </p:spPr>
        <p:txBody>
          <a:bodyPr>
            <a:noAutofit/>
          </a:bodyPr>
          <a:lstStyle/>
          <a:p>
            <a:r>
              <a:rPr lang="pt-BR" sz="2400" dirty="0">
                <a:latin typeface="Route 159 SemiBold" panose="00000700000000000000" pitchFamily="50" charset="0"/>
              </a:rPr>
              <a:t>Produtos de software precisam ser desenvolvidos para um cliente em particular ou para um mercado em particular.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u="sng" dirty="0">
                <a:latin typeface="Route 159 SemiBold" panose="00000700000000000000" pitchFamily="50" charset="0"/>
              </a:rPr>
              <a:t>Genéricos</a:t>
            </a:r>
            <a:r>
              <a:rPr lang="pt-BR" sz="2400" dirty="0">
                <a:latin typeface="Route 159 SemiBold" panose="00000700000000000000" pitchFamily="50" charset="0"/>
              </a:rPr>
              <a:t>: desenvolvidos para serem vendidos para um grande número de clientes, exemplo: Word, Excel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u="sng" dirty="0">
                <a:latin typeface="Route 159 SemiBold" panose="00000700000000000000" pitchFamily="50" charset="0"/>
              </a:rPr>
              <a:t>Personalizados</a:t>
            </a:r>
            <a:r>
              <a:rPr lang="pt-BR" sz="2400" dirty="0">
                <a:latin typeface="Route 159 SemiBold" panose="00000700000000000000" pitchFamily="50" charset="0"/>
              </a:rPr>
              <a:t>: desenvolvidos para um dado cliente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pt-BR" dirty="0">
                <a:latin typeface="Route 159 SemiBold" panose="00000700000000000000" pitchFamily="50" charset="0"/>
              </a:rPr>
              <a:t>São programas de computador e documentos associados a este programa, tais como requerimentos, modelos de projeto, manuais</a:t>
            </a:r>
          </a:p>
        </p:txBody>
      </p:sp>
    </p:spTree>
    <p:extLst>
      <p:ext uri="{BB962C8B-B14F-4D97-AF65-F5344CB8AC3E}">
        <p14:creationId xmlns:p14="http://schemas.microsoft.com/office/powerpoint/2010/main" val="48646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O que é Engenharia de Software?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11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4800" dirty="0">
                <a:latin typeface="Route 159 SemiBold" panose="00000700000000000000" pitchFamily="50" charset="0"/>
              </a:rPr>
              <a:t>se preocupa com todos os aspectos do desenvolvimento de software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4400" dirty="0">
                <a:latin typeface="Route 159 SemiBold" panose="00000700000000000000" pitchFamily="50" charset="0"/>
              </a:rPr>
              <a:t>Engenheiros de software devem adotar uma abordagem sistemática e organizada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Uso de técnicas e ferramentas apropriadas dependem do problema a ser resolvido.</a:t>
            </a:r>
          </a:p>
        </p:txBody>
      </p:sp>
    </p:spTree>
    <p:extLst>
      <p:ext uri="{BB962C8B-B14F-4D97-AF65-F5344CB8AC3E}">
        <p14:creationId xmlns:p14="http://schemas.microsoft.com/office/powerpoint/2010/main" val="274187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Diferença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12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Ciência da Computação X Engenharia de Software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E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>
                <a:latin typeface="Route 159 SemiBold" panose="00000700000000000000" pitchFamily="50" charset="0"/>
              </a:rPr>
              <a:t>Está preocupada com teorias e fundamentos;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Teorias da ciência da computação ainda são insuficientes para servirem como base ao desenvolvimento do software.</a:t>
            </a:r>
          </a:p>
          <a:p>
            <a:pPr marL="0" indent="0">
              <a:buNone/>
            </a:pP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just"/>
            <a:r>
              <a:rPr lang="pt-BR" dirty="0">
                <a:latin typeface="Route 159 SemiBold" panose="00000700000000000000" pitchFamily="50" charset="0"/>
              </a:rPr>
              <a:t>Preocupada com problemas práticos de desenvolvimento de software;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Teorias da engenharia já são suficientes, como exemplo da física, da engenharia elétrica.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477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ítulo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O que é um Processo de Software?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13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23" name="Espaço Reservado para Imagem 22"/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24" name="Espaço Reservado para Imagem 23"/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25" name="Espaço Reservado para Imagem 24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6" name="Espaço Reservado para Imagem 25"/>
          <p:cNvSpPr>
            <a:spLocks noGrp="1"/>
          </p:cNvSpPr>
          <p:nvPr>
            <p:ph type="pic" sz="quarter" idx="19"/>
          </p:nvPr>
        </p:nvSpPr>
        <p:spPr/>
      </p:sp>
      <p:sp>
        <p:nvSpPr>
          <p:cNvPr id="27" name="Espaço Reservado para Texto 26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Especificação: o que o sistema deve fazer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Desenvolvimento: produção do software</a:t>
            </a:r>
          </a:p>
        </p:txBody>
      </p:sp>
      <p:sp>
        <p:nvSpPr>
          <p:cNvPr id="29" name="Espaço Reservado para Texto 2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Validação: verificar se o software é o que o cliente espera.</a:t>
            </a:r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Evolução: Modificar o software em resposta às requisições de mudanças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just"/>
            <a:r>
              <a:rPr lang="pt-BR" sz="3200" dirty="0">
                <a:latin typeface="Route 159 SemiBold" panose="00000700000000000000" pitchFamily="50" charset="0"/>
              </a:rPr>
              <a:t>Um conjunto de atividades cujo objetivo é o desenvolvimento ou evolução do software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sz="3200" dirty="0">
                <a:latin typeface="Route 159 SemiBold" panose="00000700000000000000" pitchFamily="50" charset="0"/>
              </a:rPr>
              <a:t>Atividades presentes em todos os processos</a:t>
            </a:r>
          </a:p>
        </p:txBody>
      </p:sp>
    </p:spTree>
    <p:extLst>
      <p:ext uri="{BB962C8B-B14F-4D97-AF65-F5344CB8AC3E}">
        <p14:creationId xmlns:p14="http://schemas.microsoft.com/office/powerpoint/2010/main" val="1227806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O que é um modelo de software?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É uma representação simplificada de um processo de software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7"/>
          </p:nvPr>
        </p:nvSpPr>
        <p:spPr>
          <a:xfrm>
            <a:off x="419100" y="3103641"/>
            <a:ext cx="7817127" cy="2823902"/>
          </a:xfrm>
        </p:spPr>
        <p:txBody>
          <a:bodyPr/>
          <a:lstStyle/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2800" u="sng" dirty="0">
                <a:solidFill>
                  <a:schemeClr val="bg2">
                    <a:lumMod val="10000"/>
                  </a:schemeClr>
                </a:solidFill>
                <a:latin typeface="Route 159 SemiBold" panose="00000700000000000000" pitchFamily="50" charset="0"/>
              </a:rPr>
              <a:t>Modelo de </a:t>
            </a:r>
            <a:r>
              <a:rPr lang="pt-BR" sz="2800" u="sng" dirty="0" err="1">
                <a:solidFill>
                  <a:schemeClr val="bg2">
                    <a:lumMod val="10000"/>
                  </a:schemeClr>
                </a:solidFill>
                <a:latin typeface="Route 159 SemiBold" panose="00000700000000000000" pitchFamily="50" charset="0"/>
              </a:rPr>
              <a:t>worflow</a:t>
            </a:r>
            <a:r>
              <a:rPr lang="pt-BR" sz="2800" dirty="0">
                <a:latin typeface="Route 159 SemiBold" panose="00000700000000000000" pitchFamily="50" charset="0"/>
              </a:rPr>
              <a:t>: sequência de atividades;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2800" u="sng" dirty="0">
                <a:solidFill>
                  <a:schemeClr val="bg2">
                    <a:lumMod val="10000"/>
                  </a:schemeClr>
                </a:solidFill>
                <a:latin typeface="Route 159 SemiBold" panose="00000700000000000000" pitchFamily="50" charset="0"/>
              </a:rPr>
              <a:t>Modelo de fluxo de dados</a:t>
            </a:r>
            <a:r>
              <a:rPr lang="pt-BR" sz="2800" dirty="0">
                <a:latin typeface="Route 159 SemiBold" panose="00000700000000000000" pitchFamily="50" charset="0"/>
              </a:rPr>
              <a:t>: fluxo de informações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2">
                    <a:lumMod val="10000"/>
                  </a:schemeClr>
                </a:solidFill>
                <a:latin typeface="Route 159 SemiBold" panose="00000700000000000000" pitchFamily="50" charset="0"/>
              </a:rPr>
              <a:t>Modelo de Papel/Ação</a:t>
            </a:r>
            <a:r>
              <a:rPr lang="pt-BR" sz="2800" dirty="0">
                <a:latin typeface="Route 159 SemiBold" panose="00000700000000000000" pitchFamily="50" charset="0"/>
              </a:rPr>
              <a:t>: quem faz o quê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2">
                    <a:lumMod val="10000"/>
                  </a:schemeClr>
                </a:solidFill>
                <a:latin typeface="Route 159 SemiBold" panose="00000700000000000000" pitchFamily="50" charset="0"/>
              </a:rPr>
              <a:t>Cascata;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2">
                    <a:lumMod val="10000"/>
                  </a:schemeClr>
                </a:solidFill>
                <a:latin typeface="Route 159 SemiBold" panose="00000700000000000000" pitchFamily="50" charset="0"/>
              </a:rPr>
              <a:t>Desenvolvimento iterativo;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bg2">
                    <a:lumMod val="10000"/>
                  </a:schemeClr>
                </a:solidFill>
                <a:latin typeface="Route 159 SemiBold" panose="00000700000000000000" pitchFamily="50" charset="0"/>
              </a:rPr>
              <a:t>Engenharia baseada em componentes;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Route 159 SemiBold" panose="00000700000000000000" pitchFamily="50" charset="0"/>
              </a:rPr>
              <a:t>Exemplos de perspectivas de processos: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r>
              <a:rPr lang="pt-BR" sz="3600" dirty="0">
                <a:latin typeface="Route 159 SemiBold" panose="00000700000000000000" pitchFamily="50" charset="0"/>
              </a:rPr>
              <a:t>Modelos de processos genéricos</a:t>
            </a:r>
          </a:p>
        </p:txBody>
      </p:sp>
    </p:spTree>
    <p:extLst>
      <p:ext uri="{BB962C8B-B14F-4D97-AF65-F5344CB8AC3E}">
        <p14:creationId xmlns:p14="http://schemas.microsoft.com/office/powerpoint/2010/main" val="117852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Quais os custos da Engenharia de Software?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15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>
          <a:xfrm>
            <a:off x="2023050" y="2655891"/>
            <a:ext cx="14622907" cy="790352"/>
          </a:xfrm>
        </p:spPr>
        <p:txBody>
          <a:bodyPr/>
          <a:lstStyle/>
          <a:p>
            <a:r>
              <a:rPr lang="pt-BR" dirty="0"/>
              <a:t>Aproximadamente 60% dos gastos são com desenvolvimento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Os 40% restantes com testes;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>
          <a:xfrm>
            <a:off x="2023050" y="4866245"/>
            <a:ext cx="14622907" cy="790352"/>
          </a:xfrm>
        </p:spPr>
        <p:txBody>
          <a:bodyPr/>
          <a:lstStyle/>
          <a:p>
            <a:r>
              <a:rPr lang="pt-BR" sz="2800" dirty="0"/>
              <a:t>Custos variam dependendo do tipo de sistema a ser desenvolvido e dos requerimentos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Como por exemplo: desempenho e a confiança do sistema;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8"/>
          </p:nvPr>
        </p:nvSpPr>
        <p:spPr>
          <a:xfrm>
            <a:off x="2021917" y="7082422"/>
            <a:ext cx="14624040" cy="790352"/>
          </a:xfrm>
        </p:spPr>
        <p:txBody>
          <a:bodyPr/>
          <a:lstStyle/>
          <a:p>
            <a:r>
              <a:rPr lang="pt-BR" dirty="0"/>
              <a:t>Distribuição dos custos depende do modelo de desenvolvimento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188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Espaço Reservado para Imagem 12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192" t="-4370" r="-34882" b="-24074"/>
          <a:stretch/>
        </p:blipFill>
        <p:spPr/>
      </p:pic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-1" y="8563429"/>
            <a:ext cx="11791951" cy="1170617"/>
          </a:xfrm>
        </p:spPr>
        <p:txBody>
          <a:bodyPr>
            <a:normAutofit fontScale="90000"/>
          </a:bodyPr>
          <a:lstStyle/>
          <a:p>
            <a:r>
              <a:rPr lang="pt-BR" dirty="0"/>
              <a:t>Distribuição dos custos por atividade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16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34657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Custos para o desenvolvimento do produto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pic>
        <p:nvPicPr>
          <p:cNvPr id="9" name="Espaço Reservado para Imagem 8"/>
          <p:cNvPicPr>
            <a:picLocks noGrp="1" noChangeAspect="1"/>
          </p:cNvPicPr>
          <p:nvPr>
            <p:ph type="pic" sz="quarter" idx="16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55"/>
          <a:stretch/>
        </p:blipFill>
        <p:spPr/>
      </p:pic>
      <p:sp>
        <p:nvSpPr>
          <p:cNvPr id="7" name="Espaço Reservado para Texto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53263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>
                <a:latin typeface="Route 159 SemiBold" panose="00000700000000000000" pitchFamily="50" charset="0"/>
              </a:rPr>
              <a:t>Quais são os métodos de engenharia de software?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18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Modelagem do sistema, notação, regras, recomendações e guia de processos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Route 159 SemiBold" panose="00000700000000000000" pitchFamily="50" charset="0"/>
              </a:rPr>
              <a:t>Descrição de modelos gráficos que devem ser produzidos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Route 159 SemiBold" panose="00000700000000000000" pitchFamily="50" charset="0"/>
              </a:rPr>
              <a:t>Restrições aplicadas aos modelos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Recomendações de boas práticas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Que atividade seguir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/>
              <a:t>Abordagens estruturadas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/>
              <a:t>Guia de processo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/>
              <a:t>Descrição dos modelos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/>
              <a:t>Regras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/>
              <a:t>Recomendações</a:t>
            </a:r>
          </a:p>
        </p:txBody>
      </p:sp>
    </p:spTree>
    <p:extLst>
      <p:ext uri="{BB962C8B-B14F-4D97-AF65-F5344CB8AC3E}">
        <p14:creationId xmlns:p14="http://schemas.microsoft.com/office/powerpoint/2010/main" val="526595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Computer-</a:t>
            </a:r>
            <a:r>
              <a:rPr lang="pt-BR" dirty="0" err="1">
                <a:latin typeface="Route 159 SemiBold" panose="00000700000000000000" pitchFamily="50" charset="0"/>
              </a:rPr>
              <a:t>Aided</a:t>
            </a:r>
            <a:r>
              <a:rPr lang="pt-BR" dirty="0">
                <a:latin typeface="Route 159 SemiBold" panose="00000700000000000000" pitchFamily="50" charset="0"/>
              </a:rPr>
              <a:t> Software </a:t>
            </a:r>
            <a:r>
              <a:rPr lang="pt-BR" dirty="0" err="1">
                <a:latin typeface="Route 159 SemiBold" panose="00000700000000000000" pitchFamily="50" charset="0"/>
              </a:rPr>
              <a:t>Enginnering</a:t>
            </a:r>
            <a:endParaRPr lang="pt-BR" dirty="0">
              <a:latin typeface="Route 159 SemiBold" panose="00000700000000000000" pitchFamily="50" charset="0"/>
            </a:endParaRP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19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Route 159 SemiBold" panose="00000700000000000000" pitchFamily="50" charset="0"/>
              </a:rPr>
              <a:t>Sistemas de software voltados para prover suporte automático para atividades de processo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/>
          </a:bodyPr>
          <a:lstStyle/>
          <a:p>
            <a:r>
              <a:rPr lang="pt-BR" sz="2400" dirty="0">
                <a:latin typeface="Route 159 SemiBold" panose="00000700000000000000" pitchFamily="50" charset="0"/>
              </a:rPr>
              <a:t>São frequentemente usados para dar suporte ao método escolhido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pt-BR" sz="2400" dirty="0" err="1">
                <a:latin typeface="Route 159 SemiBold" panose="00000700000000000000" pitchFamily="50" charset="0"/>
              </a:rPr>
              <a:t>Upper</a:t>
            </a:r>
            <a:r>
              <a:rPr lang="pt-BR" sz="2400" dirty="0">
                <a:latin typeface="Route 159 SemiBold" panose="00000700000000000000" pitchFamily="50" charset="0"/>
              </a:rPr>
              <a:t> Case: Ferramentas para auxiliar as atividades no início do processo de requisitos e do projeto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r>
              <a:rPr lang="pt-BR" sz="2400" dirty="0" err="1">
                <a:latin typeface="Route 159 SemiBold" panose="00000700000000000000" pitchFamily="50" charset="0"/>
              </a:rPr>
              <a:t>Lower</a:t>
            </a:r>
            <a:r>
              <a:rPr lang="pt-BR" sz="2400" dirty="0">
                <a:latin typeface="Route 159 SemiBold" panose="00000700000000000000" pitchFamily="50" charset="0"/>
              </a:rPr>
              <a:t> Case: Ferramentas para auxiliar as atividades de fases posteriores como programação, depuração e testes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CASE</a:t>
            </a:r>
          </a:p>
        </p:txBody>
      </p:sp>
    </p:spTree>
    <p:extLst>
      <p:ext uri="{BB962C8B-B14F-4D97-AF65-F5344CB8AC3E}">
        <p14:creationId xmlns:p14="http://schemas.microsoft.com/office/powerpoint/2010/main" val="2537364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Route 159 SemiBold" panose="00000700000000000000" pitchFamily="50" charset="0"/>
              </a:rPr>
              <a:t>Quais os atributos de um bom software?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20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Ser fácil de manter, confiável e usável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0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O software deve evoluir na medida que haja necessidade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O software precisa ser confiável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O software não deve desperdiçar os recursos do sistema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O software precisa ser usável sem esforço excessivo por parte do usuário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7"/>
          </p:nvPr>
        </p:nvSpPr>
        <p:spPr>
          <a:xfrm>
            <a:off x="1447800" y="2723411"/>
            <a:ext cx="4754012" cy="545533"/>
          </a:xfrm>
        </p:spPr>
        <p:txBody>
          <a:bodyPr/>
          <a:lstStyle/>
          <a:p>
            <a:r>
              <a:rPr lang="pt-BR" dirty="0"/>
              <a:t>Funcionalidades e desempenho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/>
              <a:t>Usabilidade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9"/>
          </p:nvPr>
        </p:nvSpPr>
        <p:spPr>
          <a:xfrm>
            <a:off x="1447800" y="4088792"/>
            <a:ext cx="4754012" cy="545533"/>
          </a:xfrm>
        </p:spPr>
        <p:txBody>
          <a:bodyPr/>
          <a:lstStyle/>
          <a:p>
            <a:r>
              <a:rPr lang="pt-BR" dirty="0"/>
              <a:t>Facilidade de manutenção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dirty="0"/>
              <a:t>Confiança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/>
              <a:t>Eficiência</a:t>
            </a:r>
          </a:p>
        </p:txBody>
      </p:sp>
    </p:spTree>
    <p:extLst>
      <p:ext uri="{BB962C8B-B14F-4D97-AF65-F5344CB8AC3E}">
        <p14:creationId xmlns:p14="http://schemas.microsoft.com/office/powerpoint/2010/main" val="34066890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ço Reservado para Texto 18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pt-BR" dirty="0"/>
              <a:t>Entrega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Técnicas de desenvolvimento que resulte em uma entrega rápida de software</a:t>
            </a:r>
          </a:p>
        </p:txBody>
      </p:sp>
      <p:sp>
        <p:nvSpPr>
          <p:cNvPr id="15" name="Título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Desafios da Engenharia de Software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21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/>
              <a:t>Confiança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pPr algn="just"/>
            <a:r>
              <a:rPr lang="pt-BR" sz="2400" dirty="0">
                <a:latin typeface="Route 159 SemiBold" panose="00000700000000000000" pitchFamily="50" charset="0"/>
              </a:rPr>
              <a:t>Desenvolvimento de técnicas que demonstrem que o cliente possa confiar no software.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/>
              <a:t>Heterogeneidade</a:t>
            </a:r>
          </a:p>
        </p:txBody>
      </p:sp>
      <p:sp>
        <p:nvSpPr>
          <p:cNvPr id="22" name="Espaço Reservado para Texto 21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dirty="0">
                <a:latin typeface="Route 159 SemiBold" panose="00000700000000000000" pitchFamily="50" charset="0"/>
              </a:rPr>
              <a:t>Desenvolvimento de técnicas para construção de software que possa se acoplar a diferentes plataformas e ambientes de execução</a:t>
            </a:r>
          </a:p>
        </p:txBody>
      </p:sp>
    </p:spTree>
    <p:extLst>
      <p:ext uri="{BB962C8B-B14F-4D97-AF65-F5344CB8AC3E}">
        <p14:creationId xmlns:p14="http://schemas.microsoft.com/office/powerpoint/2010/main" val="10776477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Responsabilidade Profissional e ética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22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Engenharia de Software envolve responsabilidades mais amplas que simplesmente a aplicação de técnicas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pt-BR" sz="2400" dirty="0">
                <a:latin typeface="Route 159 SemiBold" panose="00000700000000000000" pitchFamily="50" charset="0"/>
              </a:rPr>
              <a:t>Um engenheiro de software precisa se comportar de forma honesta e ética para ser respeitado pela comunidade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sz="2800" dirty="0">
                <a:latin typeface="Route 159 SemiBold" panose="00000700000000000000" pitchFamily="50" charset="0"/>
              </a:rPr>
              <a:t>Comportamento ético é mais do que apenas seguir a lei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9"/>
          </p:nvPr>
        </p:nvSpPr>
        <p:spPr>
          <a:xfrm>
            <a:off x="2438400" y="3844516"/>
            <a:ext cx="3086099" cy="720080"/>
          </a:xfrm>
        </p:spPr>
        <p:txBody>
          <a:bodyPr/>
          <a:lstStyle/>
          <a:p>
            <a:r>
              <a:rPr lang="pt-BR" sz="2400" dirty="0"/>
              <a:t>Responsabilidades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pt-BR" sz="2400" dirty="0"/>
              <a:t>Comportamento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pt-BR" dirty="0"/>
              <a:t>Ética</a:t>
            </a:r>
          </a:p>
        </p:txBody>
      </p:sp>
    </p:spTree>
    <p:extLst>
      <p:ext uri="{BB962C8B-B14F-4D97-AF65-F5344CB8AC3E}">
        <p14:creationId xmlns:p14="http://schemas.microsoft.com/office/powerpoint/2010/main" val="2289900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Responsabilidade profissional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23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Confidencialidade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Competência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55000" lnSpcReduction="20000"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dirty="0" err="1">
                <a:latin typeface="Route 159 SemiBold" panose="00000700000000000000" pitchFamily="50" charset="0"/>
              </a:rPr>
              <a:t>Engenheiros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normalmente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devem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respeitar</a:t>
            </a:r>
            <a:r>
              <a:rPr lang="en-GB" dirty="0">
                <a:latin typeface="Route 159 SemiBold" panose="00000700000000000000" pitchFamily="50" charset="0"/>
              </a:rPr>
              <a:t> a </a:t>
            </a:r>
            <a:r>
              <a:rPr lang="en-GB" dirty="0" err="1">
                <a:latin typeface="Route 159 SemiBold" panose="00000700000000000000" pitchFamily="50" charset="0"/>
              </a:rPr>
              <a:t>confidenciabilidade</a:t>
            </a:r>
            <a:r>
              <a:rPr lang="en-GB" dirty="0">
                <a:latin typeface="Route 159 SemiBold" panose="00000700000000000000" pitchFamily="50" charset="0"/>
              </a:rPr>
              <a:t> de </a:t>
            </a:r>
            <a:r>
              <a:rPr lang="en-GB" dirty="0" err="1">
                <a:latin typeface="Route 159 SemiBold" panose="00000700000000000000" pitchFamily="50" charset="0"/>
              </a:rPr>
              <a:t>seus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empregados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ou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clientes</a:t>
            </a:r>
            <a:r>
              <a:rPr lang="en-GB" dirty="0">
                <a:latin typeface="Route 159 SemiBold" panose="00000700000000000000" pitchFamily="50" charset="0"/>
              </a:rPr>
              <a:t>, </a:t>
            </a:r>
            <a:r>
              <a:rPr lang="en-GB" dirty="0" err="1">
                <a:latin typeface="Route 159 SemiBold" panose="00000700000000000000" pitchFamily="50" charset="0"/>
              </a:rPr>
              <a:t>havendo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ou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não</a:t>
            </a:r>
            <a:r>
              <a:rPr lang="en-GB" dirty="0">
                <a:latin typeface="Route 159 SemiBold" panose="00000700000000000000" pitchFamily="50" charset="0"/>
              </a:rPr>
              <a:t> um </a:t>
            </a:r>
            <a:r>
              <a:rPr lang="en-GB" dirty="0" err="1">
                <a:latin typeface="Route 159 SemiBold" panose="00000700000000000000" pitchFamily="50" charset="0"/>
              </a:rPr>
              <a:t>acordo</a:t>
            </a:r>
            <a:r>
              <a:rPr lang="en-GB" dirty="0">
                <a:latin typeface="Route 159 SemiBold" panose="00000700000000000000" pitchFamily="50" charset="0"/>
              </a:rPr>
              <a:t> de </a:t>
            </a:r>
            <a:r>
              <a:rPr lang="en-GB" dirty="0" err="1">
                <a:latin typeface="Route 159 SemiBold" panose="00000700000000000000" pitchFamily="50" charset="0"/>
              </a:rPr>
              <a:t>confidenciabilidade</a:t>
            </a:r>
            <a:r>
              <a:rPr lang="en-GB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fontScale="55000" lnSpcReduction="20000"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dirty="0" err="1">
                <a:latin typeface="Route 159 SemiBold" panose="00000700000000000000" pitchFamily="50" charset="0"/>
              </a:rPr>
              <a:t>Engenheiros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não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devem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desvirtuar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seus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níveis</a:t>
            </a:r>
            <a:r>
              <a:rPr lang="en-GB" dirty="0">
                <a:latin typeface="Route 159 SemiBold" panose="00000700000000000000" pitchFamily="50" charset="0"/>
              </a:rPr>
              <a:t> de </a:t>
            </a:r>
            <a:r>
              <a:rPr lang="en-GB" dirty="0" err="1">
                <a:latin typeface="Route 159 SemiBold" panose="00000700000000000000" pitchFamily="50" charset="0"/>
              </a:rPr>
              <a:t>competência</a:t>
            </a:r>
            <a:r>
              <a:rPr lang="en-GB" dirty="0">
                <a:latin typeface="Route 159 SemiBold" panose="00000700000000000000" pitchFamily="50" charset="0"/>
              </a:rPr>
              <a:t>. </a:t>
            </a:r>
            <a:r>
              <a:rPr lang="en-GB" dirty="0" err="1">
                <a:latin typeface="Route 159 SemiBold" panose="00000700000000000000" pitchFamily="50" charset="0"/>
              </a:rPr>
              <a:t>Não</a:t>
            </a:r>
            <a:r>
              <a:rPr lang="en-GB" dirty="0">
                <a:latin typeface="Route 159 SemiBold" panose="00000700000000000000" pitchFamily="50" charset="0"/>
              </a:rPr>
              <a:t> se </a:t>
            </a:r>
            <a:r>
              <a:rPr lang="en-GB" dirty="0" err="1">
                <a:latin typeface="Route 159 SemiBold" panose="00000700000000000000" pitchFamily="50" charset="0"/>
              </a:rPr>
              <a:t>deve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aceitar</a:t>
            </a:r>
            <a:r>
              <a:rPr lang="en-GB" dirty="0">
                <a:latin typeface="Route 159 SemiBold" panose="00000700000000000000" pitchFamily="50" charset="0"/>
              </a:rPr>
              <a:t> um </a:t>
            </a:r>
            <a:r>
              <a:rPr lang="en-GB" dirty="0" err="1">
                <a:latin typeface="Route 159 SemiBold" panose="00000700000000000000" pitchFamily="50" charset="0"/>
              </a:rPr>
              <a:t>trabalho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que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esteja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além</a:t>
            </a:r>
            <a:r>
              <a:rPr lang="en-GB" dirty="0">
                <a:latin typeface="Route 159 SemiBold" panose="00000700000000000000" pitchFamily="50" charset="0"/>
              </a:rPr>
              <a:t> de </a:t>
            </a:r>
            <a:r>
              <a:rPr lang="en-GB" dirty="0" err="1">
                <a:latin typeface="Route 159 SemiBold" panose="00000700000000000000" pitchFamily="50" charset="0"/>
              </a:rPr>
              <a:t>sua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competência</a:t>
            </a:r>
            <a:r>
              <a:rPr lang="en-GB" dirty="0">
                <a:latin typeface="Route 159 SemiBold" panose="000007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8462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Responsabilidade profissional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24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Direitos de propriedade intelectual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Mau uso de computadores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4"/>
          </p:nvPr>
        </p:nvSpPr>
        <p:spPr>
          <a:xfrm>
            <a:off x="829466" y="6348582"/>
            <a:ext cx="7412834" cy="3084206"/>
          </a:xfrm>
        </p:spPr>
        <p:txBody>
          <a:bodyPr>
            <a:normAutofit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400" dirty="0" err="1">
                <a:latin typeface="Route 159 SemiBold" panose="00000700000000000000" pitchFamily="50" charset="0"/>
              </a:rPr>
              <a:t>Engenheiros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estar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cientes</a:t>
            </a:r>
            <a:r>
              <a:rPr lang="en-GB" sz="2400" dirty="0">
                <a:latin typeface="Route 159 SemiBold" panose="00000700000000000000" pitchFamily="50" charset="0"/>
              </a:rPr>
              <a:t> das leis </a:t>
            </a:r>
            <a:r>
              <a:rPr lang="en-GB" sz="2400" dirty="0" err="1">
                <a:latin typeface="Route 159 SemiBold" panose="00000700000000000000" pitchFamily="50" charset="0"/>
              </a:rPr>
              <a:t>que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protegem</a:t>
            </a:r>
            <a:r>
              <a:rPr lang="en-GB" sz="2400" dirty="0">
                <a:latin typeface="Route 159 SemiBold" panose="00000700000000000000" pitchFamily="50" charset="0"/>
              </a:rPr>
              <a:t> o </a:t>
            </a:r>
            <a:r>
              <a:rPr lang="en-GB" sz="2400" dirty="0" err="1">
                <a:latin typeface="Route 159 SemiBold" panose="00000700000000000000" pitchFamily="50" charset="0"/>
              </a:rPr>
              <a:t>uso</a:t>
            </a:r>
            <a:r>
              <a:rPr lang="en-GB" sz="2400" dirty="0">
                <a:latin typeface="Route 159 SemiBold" panose="00000700000000000000" pitchFamily="50" charset="0"/>
              </a:rPr>
              <a:t> da </a:t>
            </a:r>
            <a:r>
              <a:rPr lang="en-GB" sz="2400" dirty="0" err="1">
                <a:latin typeface="Route 159 SemiBold" panose="00000700000000000000" pitchFamily="50" charset="0"/>
              </a:rPr>
              <a:t>propriedade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intelectual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tais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como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patentes</a:t>
            </a:r>
            <a:r>
              <a:rPr lang="en-GB" sz="2400" dirty="0">
                <a:latin typeface="Route 159 SemiBold" panose="00000700000000000000" pitchFamily="50" charset="0"/>
              </a:rPr>
              <a:t>, copyright, etc. </a:t>
            </a:r>
            <a:r>
              <a:rPr lang="en-GB" sz="2400" dirty="0" err="1">
                <a:latin typeface="Route 159 SemiBold" panose="00000700000000000000" pitchFamily="50" charset="0"/>
              </a:rPr>
              <a:t>Eles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ser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cautelosos</a:t>
            </a:r>
            <a:r>
              <a:rPr lang="en-GB" sz="2400" dirty="0">
                <a:latin typeface="Route 159 SemiBold" panose="00000700000000000000" pitchFamily="50" charset="0"/>
              </a:rPr>
              <a:t> para </a:t>
            </a:r>
            <a:r>
              <a:rPr lang="en-GB" sz="2400" dirty="0" err="1">
                <a:latin typeface="Route 159 SemiBold" panose="00000700000000000000" pitchFamily="50" charset="0"/>
              </a:rPr>
              <a:t>garantir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que</a:t>
            </a:r>
            <a:r>
              <a:rPr lang="en-GB" sz="2400" dirty="0">
                <a:latin typeface="Route 159 SemiBold" panose="00000700000000000000" pitchFamily="50" charset="0"/>
              </a:rPr>
              <a:t> a </a:t>
            </a:r>
            <a:r>
              <a:rPr lang="en-GB" sz="2400" dirty="0" err="1">
                <a:latin typeface="Route 159 SemiBold" panose="00000700000000000000" pitchFamily="50" charset="0"/>
              </a:rPr>
              <a:t>propriedade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intelectual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seus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empregados</a:t>
            </a:r>
            <a:r>
              <a:rPr lang="en-GB" sz="2400" dirty="0">
                <a:latin typeface="Route 159 SemiBold" panose="00000700000000000000" pitchFamily="50" charset="0"/>
              </a:rPr>
              <a:t> e </a:t>
            </a:r>
            <a:r>
              <a:rPr lang="en-GB" sz="2400" dirty="0" err="1">
                <a:latin typeface="Route 159 SemiBold" panose="00000700000000000000" pitchFamily="50" charset="0"/>
              </a:rPr>
              <a:t>clientes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está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protegida</a:t>
            </a:r>
            <a:r>
              <a:rPr lang="en-GB" sz="2400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29"/>
          </p:nvPr>
        </p:nvSpPr>
        <p:spPr>
          <a:xfrm>
            <a:off x="10054379" y="6729738"/>
            <a:ext cx="7412834" cy="2338062"/>
          </a:xfrm>
        </p:spPr>
        <p:txBody>
          <a:bodyPr>
            <a:noAutofit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400" dirty="0" err="1">
                <a:latin typeface="Route 159 SemiBold" panose="00000700000000000000" pitchFamily="50" charset="0"/>
              </a:rPr>
              <a:t>Engenheiros</a:t>
            </a:r>
            <a:r>
              <a:rPr lang="en-GB" sz="2400" dirty="0">
                <a:latin typeface="Route 159 SemiBold" panose="00000700000000000000" pitchFamily="50" charset="0"/>
              </a:rPr>
              <a:t> de Software </a:t>
            </a:r>
            <a:r>
              <a:rPr lang="en-GB" sz="2400" dirty="0" err="1">
                <a:latin typeface="Route 159 SemiBold" panose="00000700000000000000" pitchFamily="50" charset="0"/>
              </a:rPr>
              <a:t>não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usar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suas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habilidades</a:t>
            </a:r>
            <a:r>
              <a:rPr lang="en-GB" sz="2400" dirty="0">
                <a:latin typeface="Route 159 SemiBold" panose="00000700000000000000" pitchFamily="50" charset="0"/>
              </a:rPr>
              <a:t> para </a:t>
            </a:r>
            <a:r>
              <a:rPr lang="en-GB" sz="2400" dirty="0" err="1">
                <a:latin typeface="Route 159 SemiBold" panose="00000700000000000000" pitchFamily="50" charset="0"/>
              </a:rPr>
              <a:t>utilizar</a:t>
            </a:r>
            <a:r>
              <a:rPr lang="en-GB" sz="2400" dirty="0">
                <a:latin typeface="Route 159 SemiBold" panose="00000700000000000000" pitchFamily="50" charset="0"/>
              </a:rPr>
              <a:t> de forma </a:t>
            </a:r>
            <a:r>
              <a:rPr lang="en-GB" sz="2400" dirty="0" err="1">
                <a:latin typeface="Route 159 SemiBold" panose="00000700000000000000" pitchFamily="50" charset="0"/>
              </a:rPr>
              <a:t>inadequada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os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computadores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outras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pessoas</a:t>
            </a:r>
            <a:r>
              <a:rPr lang="en-GB" sz="2400" dirty="0">
                <a:latin typeface="Route 159 SemiBold" panose="00000700000000000000" pitchFamily="50" charset="0"/>
              </a:rPr>
              <a:t>. O Mau </a:t>
            </a:r>
            <a:r>
              <a:rPr lang="en-GB" sz="2400" dirty="0" err="1">
                <a:latin typeface="Route 159 SemiBold" panose="00000700000000000000" pitchFamily="50" charset="0"/>
              </a:rPr>
              <a:t>uso</a:t>
            </a:r>
            <a:r>
              <a:rPr lang="en-GB" sz="2400" dirty="0">
                <a:latin typeface="Route 159 SemiBold" panose="00000700000000000000" pitchFamily="50" charset="0"/>
              </a:rPr>
              <a:t> dos </a:t>
            </a:r>
            <a:r>
              <a:rPr lang="en-GB" sz="2400" dirty="0" err="1">
                <a:latin typeface="Route 159 SemiBold" panose="00000700000000000000" pitchFamily="50" charset="0"/>
              </a:rPr>
              <a:t>computadores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pode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abranger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desde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situações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triviais</a:t>
            </a:r>
            <a:r>
              <a:rPr lang="en-GB" sz="2400" dirty="0">
                <a:latin typeface="Route 159 SemiBold" panose="00000700000000000000" pitchFamily="50" charset="0"/>
              </a:rPr>
              <a:t> (</a:t>
            </a:r>
            <a:r>
              <a:rPr lang="en-GB" sz="2400" dirty="0" err="1">
                <a:latin typeface="Route 159 SemiBold" panose="00000700000000000000" pitchFamily="50" charset="0"/>
              </a:rPr>
              <a:t>jogar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usando</a:t>
            </a:r>
            <a:r>
              <a:rPr lang="en-GB" sz="2400" dirty="0">
                <a:latin typeface="Route 159 SemiBold" panose="00000700000000000000" pitchFamily="50" charset="0"/>
              </a:rPr>
              <a:t> o </a:t>
            </a:r>
            <a:r>
              <a:rPr lang="en-GB" sz="2400" dirty="0" err="1">
                <a:latin typeface="Route 159 SemiBold" panose="00000700000000000000" pitchFamily="50" charset="0"/>
              </a:rPr>
              <a:t>computador</a:t>
            </a:r>
            <a:r>
              <a:rPr lang="en-GB" sz="2400" dirty="0">
                <a:latin typeface="Route 159 SemiBold" panose="00000700000000000000" pitchFamily="50" charset="0"/>
              </a:rPr>
              <a:t> da </a:t>
            </a:r>
            <a:r>
              <a:rPr lang="en-GB" sz="2400" dirty="0" err="1">
                <a:latin typeface="Route 159 SemiBold" panose="00000700000000000000" pitchFamily="50" charset="0"/>
              </a:rPr>
              <a:t>empresa</a:t>
            </a:r>
            <a:r>
              <a:rPr lang="en-GB" sz="2400" dirty="0">
                <a:latin typeface="Route 159 SemiBold" panose="00000700000000000000" pitchFamily="50" charset="0"/>
              </a:rPr>
              <a:t>) </a:t>
            </a:r>
            <a:r>
              <a:rPr lang="en-GB" sz="2400" dirty="0" err="1">
                <a:latin typeface="Route 159 SemiBold" panose="00000700000000000000" pitchFamily="50" charset="0"/>
              </a:rPr>
              <a:t>como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bem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sérias</a:t>
            </a:r>
            <a:r>
              <a:rPr lang="en-GB" sz="2400" dirty="0">
                <a:latin typeface="Route 159 SemiBold" panose="00000700000000000000" pitchFamily="50" charset="0"/>
              </a:rPr>
              <a:t> (</a:t>
            </a:r>
            <a:r>
              <a:rPr lang="en-GB" sz="2400" dirty="0" err="1">
                <a:latin typeface="Route 159 SemiBold" panose="00000700000000000000" pitchFamily="50" charset="0"/>
              </a:rPr>
              <a:t>disseminação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vírus</a:t>
            </a:r>
            <a:r>
              <a:rPr lang="en-GB" sz="2400" dirty="0">
                <a:latin typeface="Route 159 SemiBold" panose="00000700000000000000" pitchFamily="50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7343718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Código de ética da ACM/IEEE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25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Sociedades americanas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Elas tem cooperado para a produção de um código de práticas éticas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Código de ética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latin typeface="Route 159 SemiBold" panose="00000700000000000000" pitchFamily="50" charset="0"/>
              </a:rPr>
              <a:t>Os novos membros assinam um código de conduta no ingresso destas associações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Oito princípios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latin typeface="Route 159 SemiBold" panose="00000700000000000000" pitchFamily="50" charset="0"/>
              </a:rPr>
              <a:t>O código contém oito princípios relacionados ao comportamento e decisões tomadas por Engenheiros de Software</a:t>
            </a:r>
          </a:p>
        </p:txBody>
      </p:sp>
    </p:spTree>
    <p:extLst>
      <p:ext uri="{BB962C8B-B14F-4D97-AF65-F5344CB8AC3E}">
        <p14:creationId xmlns:p14="http://schemas.microsoft.com/office/powerpoint/2010/main" val="2579611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Código de ética - princípios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26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1 - Público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400" dirty="0" err="1">
                <a:latin typeface="Route 159 SemiBold" panose="00000700000000000000" pitchFamily="50" charset="0"/>
              </a:rPr>
              <a:t>Os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Engenheiros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Softwarem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agir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consistentemente</a:t>
            </a:r>
            <a:r>
              <a:rPr lang="en-GB" sz="2400" dirty="0">
                <a:latin typeface="Route 159 SemiBold" panose="00000700000000000000" pitchFamily="50" charset="0"/>
              </a:rPr>
              <a:t> com o </a:t>
            </a:r>
            <a:r>
              <a:rPr lang="en-GB" sz="2400" dirty="0" err="1">
                <a:latin typeface="Route 159 SemiBold" panose="00000700000000000000" pitchFamily="50" charset="0"/>
              </a:rPr>
              <a:t>interesse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público</a:t>
            </a:r>
            <a:r>
              <a:rPr lang="en-GB" sz="2400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2 – Cliente e Empregador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400" dirty="0" err="1">
                <a:latin typeface="Route 159 SemiBold" panose="00000700000000000000" pitchFamily="50" charset="0"/>
              </a:rPr>
              <a:t>Engenheiros</a:t>
            </a:r>
            <a:r>
              <a:rPr lang="en-GB" sz="2400" dirty="0">
                <a:latin typeface="Route 159 SemiBold" panose="00000700000000000000" pitchFamily="50" charset="0"/>
              </a:rPr>
              <a:t> de Software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agir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dentro</a:t>
            </a:r>
            <a:r>
              <a:rPr lang="en-GB" sz="2400" dirty="0">
                <a:latin typeface="Route 159 SemiBold" panose="00000700000000000000" pitchFamily="50" charset="0"/>
              </a:rPr>
              <a:t> dos </a:t>
            </a:r>
            <a:r>
              <a:rPr lang="en-GB" sz="2400" dirty="0" err="1">
                <a:latin typeface="Route 159 SemiBold" panose="00000700000000000000" pitchFamily="50" charset="0"/>
              </a:rPr>
              <a:t>melhores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interesses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seu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cliente</a:t>
            </a:r>
            <a:r>
              <a:rPr lang="en-GB" sz="2400" dirty="0">
                <a:latin typeface="Route 159 SemiBold" panose="00000700000000000000" pitchFamily="50" charset="0"/>
              </a:rPr>
              <a:t> e </a:t>
            </a:r>
            <a:r>
              <a:rPr lang="en-GB" sz="2400" dirty="0" err="1">
                <a:latin typeface="Route 159 SemiBold" panose="00000700000000000000" pitchFamily="50" charset="0"/>
              </a:rPr>
              <a:t>empregador</a:t>
            </a:r>
            <a:r>
              <a:rPr lang="en-GB" sz="2400" dirty="0">
                <a:latin typeface="Route 159 SemiBold" panose="00000700000000000000" pitchFamily="50" charset="0"/>
              </a:rPr>
              <a:t>, de forma </a:t>
            </a:r>
            <a:r>
              <a:rPr lang="en-GB" sz="2400" dirty="0" err="1">
                <a:latin typeface="Route 159 SemiBold" panose="00000700000000000000" pitchFamily="50" charset="0"/>
              </a:rPr>
              <a:t>consistente</a:t>
            </a:r>
            <a:r>
              <a:rPr lang="en-GB" sz="2400" dirty="0">
                <a:latin typeface="Route 159 SemiBold" panose="00000700000000000000" pitchFamily="50" charset="0"/>
              </a:rPr>
              <a:t> com o </a:t>
            </a:r>
            <a:r>
              <a:rPr lang="en-GB" sz="2400" dirty="0" err="1">
                <a:latin typeface="Route 159 SemiBold" panose="00000700000000000000" pitchFamily="50" charset="0"/>
              </a:rPr>
              <a:t>interesse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público</a:t>
            </a:r>
            <a:r>
              <a:rPr lang="en-GB" sz="2400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3 - Produto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400" dirty="0" err="1">
                <a:latin typeface="Route 159 SemiBold" panose="00000700000000000000" pitchFamily="50" charset="0"/>
              </a:rPr>
              <a:t>Engenheiros</a:t>
            </a:r>
            <a:r>
              <a:rPr lang="en-GB" sz="2400" dirty="0">
                <a:latin typeface="Route 159 SemiBold" panose="00000700000000000000" pitchFamily="50" charset="0"/>
              </a:rPr>
              <a:t> de Software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garantir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que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seus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produtos</a:t>
            </a:r>
            <a:r>
              <a:rPr lang="en-GB" sz="2400" dirty="0">
                <a:latin typeface="Route 159 SemiBold" panose="00000700000000000000" pitchFamily="50" charset="0"/>
              </a:rPr>
              <a:t> e </a:t>
            </a:r>
            <a:r>
              <a:rPr lang="en-GB" sz="2400" dirty="0" err="1">
                <a:latin typeface="Route 159 SemiBold" panose="00000700000000000000" pitchFamily="50" charset="0"/>
              </a:rPr>
              <a:t>futuras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modificações</a:t>
            </a:r>
            <a:r>
              <a:rPr lang="en-GB" sz="2400" dirty="0">
                <a:latin typeface="Route 159 SemiBold" panose="00000700000000000000" pitchFamily="50" charset="0"/>
              </a:rPr>
              <a:t> do </a:t>
            </a:r>
            <a:r>
              <a:rPr lang="en-GB" sz="2400" dirty="0" err="1">
                <a:latin typeface="Route 159 SemiBold" panose="00000700000000000000" pitchFamily="50" charset="0"/>
              </a:rPr>
              <a:t>mesmo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estejam</a:t>
            </a:r>
            <a:r>
              <a:rPr lang="en-GB" sz="2400" dirty="0">
                <a:latin typeface="Route 159 SemiBold" panose="00000700000000000000" pitchFamily="50" charset="0"/>
              </a:rPr>
              <a:t>  de </a:t>
            </a:r>
            <a:r>
              <a:rPr lang="en-GB" sz="2400" dirty="0" err="1">
                <a:latin typeface="Route 159 SemiBold" panose="00000700000000000000" pitchFamily="50" charset="0"/>
              </a:rPr>
              <a:t>acordo</a:t>
            </a:r>
            <a:r>
              <a:rPr lang="en-GB" sz="2400" dirty="0">
                <a:latin typeface="Route 159 SemiBold" panose="00000700000000000000" pitchFamily="50" charset="0"/>
              </a:rPr>
              <a:t> com </a:t>
            </a:r>
            <a:r>
              <a:rPr lang="en-GB" sz="2400" dirty="0" err="1">
                <a:latin typeface="Route 159 SemiBold" panose="00000700000000000000" pitchFamily="50" charset="0"/>
              </a:rPr>
              <a:t>os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mais</a:t>
            </a:r>
            <a:r>
              <a:rPr lang="en-GB" sz="2400" dirty="0">
                <a:latin typeface="Route 159 SemiBold" panose="00000700000000000000" pitchFamily="50" charset="0"/>
              </a:rPr>
              <a:t> altos </a:t>
            </a:r>
            <a:r>
              <a:rPr lang="en-GB" sz="2400" dirty="0" err="1">
                <a:latin typeface="Route 159 SemiBold" panose="00000700000000000000" pitchFamily="50" charset="0"/>
              </a:rPr>
              <a:t>padrões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profissionais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estabelecidos</a:t>
            </a:r>
            <a:r>
              <a:rPr lang="en-GB" sz="2400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/>
              <a:t>4 - Julgamento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400" dirty="0" err="1">
                <a:latin typeface="Route 159 SemiBold" panose="00000700000000000000" pitchFamily="50" charset="0"/>
              </a:rPr>
              <a:t>Engenheiros</a:t>
            </a:r>
            <a:r>
              <a:rPr lang="en-GB" sz="2400" dirty="0">
                <a:latin typeface="Route 159 SemiBold" panose="00000700000000000000" pitchFamily="50" charset="0"/>
              </a:rPr>
              <a:t> de Software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manter</a:t>
            </a:r>
            <a:r>
              <a:rPr lang="en-GB" sz="2400" dirty="0">
                <a:latin typeface="Route 159 SemiBold" panose="00000700000000000000" pitchFamily="50" charset="0"/>
              </a:rPr>
              <a:t> a </a:t>
            </a:r>
            <a:r>
              <a:rPr lang="en-GB" sz="2400" dirty="0" err="1">
                <a:latin typeface="Route 159 SemiBold" panose="00000700000000000000" pitchFamily="50" charset="0"/>
              </a:rPr>
              <a:t>integridade</a:t>
            </a:r>
            <a:r>
              <a:rPr lang="en-GB" sz="2400" dirty="0">
                <a:latin typeface="Route 159 SemiBold" panose="00000700000000000000" pitchFamily="50" charset="0"/>
              </a:rPr>
              <a:t> e a </a:t>
            </a:r>
            <a:r>
              <a:rPr lang="en-GB" sz="2400" dirty="0" err="1">
                <a:latin typeface="Route 159 SemiBold" panose="00000700000000000000" pitchFamily="50" charset="0"/>
              </a:rPr>
              <a:t>independência</a:t>
            </a:r>
            <a:r>
              <a:rPr lang="en-GB" sz="2400" dirty="0">
                <a:latin typeface="Route 159 SemiBold" panose="00000700000000000000" pitchFamily="50" charset="0"/>
              </a:rPr>
              <a:t> no </a:t>
            </a:r>
            <a:r>
              <a:rPr lang="en-GB" sz="2400" dirty="0" err="1">
                <a:latin typeface="Route 159 SemiBold" panose="00000700000000000000" pitchFamily="50" charset="0"/>
              </a:rPr>
              <a:t>seu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julgamento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profissional</a:t>
            </a:r>
            <a:r>
              <a:rPr lang="en-GB" sz="2400" dirty="0">
                <a:latin typeface="Route 159 SemiBold" panose="00000700000000000000" pitchFamily="50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03425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Código de ética - princípios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27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/>
              <a:t>5 - </a:t>
            </a:r>
            <a:r>
              <a:rPr lang="pt-BR" dirty="0" err="1"/>
              <a:t>Gerencimento</a:t>
            </a:r>
            <a:endParaRPr lang="pt-BR" dirty="0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400" dirty="0" err="1">
                <a:latin typeface="Route 159 SemiBold" panose="00000700000000000000" pitchFamily="50" charset="0"/>
              </a:rPr>
              <a:t>Gerentes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Engenharia</a:t>
            </a:r>
            <a:r>
              <a:rPr lang="en-GB" sz="2400" dirty="0">
                <a:latin typeface="Route 159 SemiBold" panose="00000700000000000000" pitchFamily="50" charset="0"/>
              </a:rPr>
              <a:t> de Software e </a:t>
            </a:r>
            <a:r>
              <a:rPr lang="en-GB" sz="2400" dirty="0" err="1">
                <a:latin typeface="Route 159 SemiBold" panose="00000700000000000000" pitchFamily="50" charset="0"/>
              </a:rPr>
              <a:t>líderes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promover</a:t>
            </a:r>
            <a:r>
              <a:rPr lang="en-GB" sz="2400" dirty="0">
                <a:latin typeface="Route 159 SemiBold" panose="00000700000000000000" pitchFamily="50" charset="0"/>
              </a:rPr>
              <a:t> e </a:t>
            </a:r>
            <a:r>
              <a:rPr lang="en-GB" sz="2400" dirty="0" err="1">
                <a:latin typeface="Route 159 SemiBold" panose="00000700000000000000" pitchFamily="50" charset="0"/>
              </a:rPr>
              <a:t>participar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abordagens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éticas</a:t>
            </a:r>
            <a:r>
              <a:rPr lang="en-GB" sz="2400" dirty="0">
                <a:latin typeface="Route 159 SemiBold" panose="00000700000000000000" pitchFamily="50" charset="0"/>
              </a:rPr>
              <a:t> no </a:t>
            </a:r>
            <a:r>
              <a:rPr lang="en-GB" sz="2400" dirty="0" err="1">
                <a:latin typeface="Route 159 SemiBold" panose="00000700000000000000" pitchFamily="50" charset="0"/>
              </a:rPr>
              <a:t>gerenciamento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desenvolvimento</a:t>
            </a:r>
            <a:r>
              <a:rPr lang="en-GB" sz="2400" dirty="0">
                <a:latin typeface="Route 159 SemiBold" panose="00000700000000000000" pitchFamily="50" charset="0"/>
              </a:rPr>
              <a:t> e </a:t>
            </a:r>
            <a:r>
              <a:rPr lang="en-GB" sz="2400" dirty="0" err="1">
                <a:latin typeface="Route 159 SemiBold" panose="00000700000000000000" pitchFamily="50" charset="0"/>
              </a:rPr>
              <a:t>manutenção</a:t>
            </a:r>
            <a:r>
              <a:rPr lang="en-GB" sz="2400" dirty="0">
                <a:latin typeface="Route 159 SemiBold" panose="00000700000000000000" pitchFamily="50" charset="0"/>
              </a:rPr>
              <a:t> de Software.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/>
              <a:t>6 - Profissão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sz="2400" dirty="0" err="1">
                <a:latin typeface="Route 159 SemiBold" panose="00000700000000000000" pitchFamily="50" charset="0"/>
              </a:rPr>
              <a:t>Os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Engenheiros</a:t>
            </a:r>
            <a:r>
              <a:rPr lang="en-GB" sz="2400" dirty="0">
                <a:latin typeface="Route 159 SemiBold" panose="00000700000000000000" pitchFamily="50" charset="0"/>
              </a:rPr>
              <a:t> de Software </a:t>
            </a:r>
            <a:r>
              <a:rPr lang="en-GB" sz="2400" dirty="0" err="1">
                <a:latin typeface="Route 159 SemiBold" panose="00000700000000000000" pitchFamily="50" charset="0"/>
              </a:rPr>
              <a:t>devem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promover</a:t>
            </a:r>
            <a:r>
              <a:rPr lang="en-GB" sz="2400" dirty="0">
                <a:latin typeface="Route 159 SemiBold" panose="00000700000000000000" pitchFamily="50" charset="0"/>
              </a:rPr>
              <a:t> a </a:t>
            </a:r>
            <a:r>
              <a:rPr lang="en-GB" sz="2400" dirty="0" err="1">
                <a:latin typeface="Route 159 SemiBold" panose="00000700000000000000" pitchFamily="50" charset="0"/>
              </a:rPr>
              <a:t>integridade</a:t>
            </a:r>
            <a:r>
              <a:rPr lang="en-GB" sz="2400" dirty="0">
                <a:latin typeface="Route 159 SemiBold" panose="00000700000000000000" pitchFamily="50" charset="0"/>
              </a:rPr>
              <a:t> e </a:t>
            </a:r>
            <a:r>
              <a:rPr lang="en-GB" sz="2400" dirty="0" err="1">
                <a:latin typeface="Route 159 SemiBold" panose="00000700000000000000" pitchFamily="50" charset="0"/>
              </a:rPr>
              <a:t>reputação</a:t>
            </a:r>
            <a:r>
              <a:rPr lang="en-GB" sz="2400" dirty="0">
                <a:latin typeface="Route 159 SemiBold" panose="00000700000000000000" pitchFamily="50" charset="0"/>
              </a:rPr>
              <a:t> dos </a:t>
            </a:r>
            <a:r>
              <a:rPr lang="en-GB" sz="2400" dirty="0" err="1">
                <a:latin typeface="Route 159 SemiBold" panose="00000700000000000000" pitchFamily="50" charset="0"/>
              </a:rPr>
              <a:t>profissionais</a:t>
            </a:r>
            <a:r>
              <a:rPr lang="en-GB" sz="2400" dirty="0">
                <a:latin typeface="Route 159 SemiBold" panose="00000700000000000000" pitchFamily="50" charset="0"/>
              </a:rPr>
              <a:t> de </a:t>
            </a:r>
            <a:r>
              <a:rPr lang="en-GB" sz="2400" dirty="0" err="1">
                <a:latin typeface="Route 159 SemiBold" panose="00000700000000000000" pitchFamily="50" charset="0"/>
              </a:rPr>
              <a:t>acordo</a:t>
            </a:r>
            <a:r>
              <a:rPr lang="en-GB" sz="2400" dirty="0">
                <a:latin typeface="Route 159 SemiBold" panose="00000700000000000000" pitchFamily="50" charset="0"/>
              </a:rPr>
              <a:t> com o </a:t>
            </a:r>
            <a:r>
              <a:rPr lang="en-GB" sz="2400" dirty="0" err="1">
                <a:latin typeface="Route 159 SemiBold" panose="00000700000000000000" pitchFamily="50" charset="0"/>
              </a:rPr>
              <a:t>interesse</a:t>
            </a:r>
            <a:r>
              <a:rPr lang="en-GB" sz="2400" dirty="0">
                <a:latin typeface="Route 159 SemiBold" panose="00000700000000000000" pitchFamily="50" charset="0"/>
              </a:rPr>
              <a:t> </a:t>
            </a:r>
            <a:r>
              <a:rPr lang="en-GB" sz="2400" dirty="0" err="1">
                <a:latin typeface="Route 159 SemiBold" panose="00000700000000000000" pitchFamily="50" charset="0"/>
              </a:rPr>
              <a:t>público</a:t>
            </a:r>
            <a:r>
              <a:rPr lang="en-GB" sz="2400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/>
              <a:t>7 - Colegas</a:t>
            </a: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62500" lnSpcReduction="20000"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dirty="0" err="1">
                <a:latin typeface="Route 159 SemiBold" panose="00000700000000000000" pitchFamily="50" charset="0"/>
              </a:rPr>
              <a:t>Engenheiros</a:t>
            </a:r>
            <a:r>
              <a:rPr lang="en-GB" dirty="0">
                <a:latin typeface="Route 159 SemiBold" panose="00000700000000000000" pitchFamily="50" charset="0"/>
              </a:rPr>
              <a:t> de Software </a:t>
            </a:r>
            <a:r>
              <a:rPr lang="en-GB" dirty="0" err="1">
                <a:latin typeface="Route 159 SemiBold" panose="00000700000000000000" pitchFamily="50" charset="0"/>
              </a:rPr>
              <a:t>devem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ser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justos</a:t>
            </a:r>
            <a:r>
              <a:rPr lang="en-GB" dirty="0">
                <a:latin typeface="Route 159 SemiBold" panose="00000700000000000000" pitchFamily="50" charset="0"/>
              </a:rPr>
              <a:t> e </a:t>
            </a:r>
            <a:r>
              <a:rPr lang="en-GB" dirty="0" err="1">
                <a:latin typeface="Route 159 SemiBold" panose="00000700000000000000" pitchFamily="50" charset="0"/>
              </a:rPr>
              <a:t>colaborativos</a:t>
            </a:r>
            <a:r>
              <a:rPr lang="en-GB" dirty="0">
                <a:latin typeface="Route 159 SemiBold" panose="00000700000000000000" pitchFamily="50" charset="0"/>
              </a:rPr>
              <a:t> com </a:t>
            </a:r>
            <a:r>
              <a:rPr lang="en-GB" dirty="0" err="1">
                <a:latin typeface="Route 159 SemiBold" panose="00000700000000000000" pitchFamily="50" charset="0"/>
              </a:rPr>
              <a:t>seus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colegas</a:t>
            </a:r>
            <a:r>
              <a:rPr lang="en-GB" dirty="0">
                <a:latin typeface="Route 159 SemiBold" panose="00000700000000000000" pitchFamily="50" charset="0"/>
              </a:rPr>
              <a:t>.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pt-BR" dirty="0"/>
              <a:t>8 - Indivíduo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fontScale="55000" lnSpcReduction="20000"/>
          </a:bodyPr>
          <a:lstStyle/>
          <a:p>
            <a:pPr marL="0" lvl="1" indent="0" algn="just">
              <a:lnSpc>
                <a:spcPct val="120000"/>
              </a:lnSpc>
              <a:spcBef>
                <a:spcPts val="1200"/>
              </a:spcBef>
              <a:buNone/>
            </a:pPr>
            <a:r>
              <a:rPr lang="en-GB" dirty="0" err="1">
                <a:latin typeface="Route 159 SemiBold" panose="00000700000000000000" pitchFamily="50" charset="0"/>
              </a:rPr>
              <a:t>Engenheiros</a:t>
            </a:r>
            <a:r>
              <a:rPr lang="en-GB" dirty="0">
                <a:latin typeface="Route 159 SemiBold" panose="00000700000000000000" pitchFamily="50" charset="0"/>
              </a:rPr>
              <a:t> de Software </a:t>
            </a:r>
            <a:r>
              <a:rPr lang="en-GB" dirty="0" err="1">
                <a:latin typeface="Route 159 SemiBold" panose="00000700000000000000" pitchFamily="50" charset="0"/>
              </a:rPr>
              <a:t>devem</a:t>
            </a:r>
            <a:r>
              <a:rPr lang="en-GB" dirty="0">
                <a:latin typeface="Route 159 SemiBold" panose="00000700000000000000" pitchFamily="50" charset="0"/>
              </a:rPr>
              <a:t>, </a:t>
            </a:r>
            <a:r>
              <a:rPr lang="en-GB" dirty="0" err="1">
                <a:latin typeface="Route 159 SemiBold" panose="00000700000000000000" pitchFamily="50" charset="0"/>
              </a:rPr>
              <a:t>ao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longo</a:t>
            </a:r>
            <a:r>
              <a:rPr lang="en-GB" dirty="0">
                <a:latin typeface="Route 159 SemiBold" panose="00000700000000000000" pitchFamily="50" charset="0"/>
              </a:rPr>
              <a:t> da </a:t>
            </a:r>
            <a:r>
              <a:rPr lang="en-GB" dirty="0" err="1">
                <a:latin typeface="Route 159 SemiBold" panose="00000700000000000000" pitchFamily="50" charset="0"/>
              </a:rPr>
              <a:t>vida</a:t>
            </a:r>
            <a:r>
              <a:rPr lang="en-GB" dirty="0">
                <a:latin typeface="Route 159 SemiBold" panose="00000700000000000000" pitchFamily="50" charset="0"/>
              </a:rPr>
              <a:t>, </a:t>
            </a:r>
            <a:r>
              <a:rPr lang="en-GB" dirty="0" err="1">
                <a:latin typeface="Route 159 SemiBold" panose="00000700000000000000" pitchFamily="50" charset="0"/>
              </a:rPr>
              <a:t>aprender</a:t>
            </a:r>
            <a:r>
              <a:rPr lang="en-GB" dirty="0">
                <a:latin typeface="Route 159 SemiBold" panose="00000700000000000000" pitchFamily="50" charset="0"/>
              </a:rPr>
              <a:t>, </a:t>
            </a:r>
            <a:r>
              <a:rPr lang="en-GB" dirty="0" err="1">
                <a:latin typeface="Route 159 SemiBold" panose="00000700000000000000" pitchFamily="50" charset="0"/>
              </a:rPr>
              <a:t>respeitar</a:t>
            </a:r>
            <a:r>
              <a:rPr lang="en-GB" dirty="0">
                <a:latin typeface="Route 159 SemiBold" panose="00000700000000000000" pitchFamily="50" charset="0"/>
              </a:rPr>
              <a:t> e </a:t>
            </a:r>
            <a:r>
              <a:rPr lang="en-GB" dirty="0" err="1">
                <a:latin typeface="Route 159 SemiBold" panose="00000700000000000000" pitchFamily="50" charset="0"/>
              </a:rPr>
              <a:t>promover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uma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abordagem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ética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na</a:t>
            </a:r>
            <a:r>
              <a:rPr lang="en-GB" dirty="0">
                <a:latin typeface="Route 159 SemiBold" panose="00000700000000000000" pitchFamily="50" charset="0"/>
              </a:rPr>
              <a:t> </a:t>
            </a:r>
            <a:r>
              <a:rPr lang="en-GB" dirty="0" err="1">
                <a:latin typeface="Route 159 SemiBold" panose="00000700000000000000" pitchFamily="50" charset="0"/>
              </a:rPr>
              <a:t>prática</a:t>
            </a:r>
            <a:r>
              <a:rPr lang="en-GB" dirty="0">
                <a:latin typeface="Route 159 SemiBold" panose="00000700000000000000" pitchFamily="50" charset="0"/>
              </a:rPr>
              <a:t> da </a:t>
            </a:r>
            <a:r>
              <a:rPr lang="en-GB" dirty="0" err="1">
                <a:latin typeface="Route 159 SemiBold" panose="00000700000000000000" pitchFamily="50" charset="0"/>
              </a:rPr>
              <a:t>profissão</a:t>
            </a:r>
            <a:r>
              <a:rPr lang="en-GB" dirty="0">
                <a:latin typeface="Route 159 SemiBold" panose="00000700000000000000" pitchFamily="50" charset="0"/>
              </a:rPr>
              <a:t>.</a:t>
            </a:r>
          </a:p>
          <a:p>
            <a:pPr algn="just"/>
            <a:endParaRPr lang="pt-BR" dirty="0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030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ítu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SemiBold" panose="00000700000000000000" pitchFamily="50" charset="0"/>
              </a:rPr>
              <a:t>Dilemas éticos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SemiBold" panose="00000700000000000000" pitchFamily="50" charset="0"/>
              </a:rPr>
              <a:pPr/>
              <a:t>28</a:t>
            </a:fld>
            <a:endParaRPr lang="ja-JP" altLang="en-US">
              <a:latin typeface="Route 159 SemiBold" panose="00000700000000000000" pitchFamily="50" charset="0"/>
            </a:endParaRP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1"/>
          </p:nvPr>
        </p:nvSpPr>
        <p:spPr>
          <a:xfrm>
            <a:off x="773723" y="6004177"/>
            <a:ext cx="4851245" cy="1210123"/>
          </a:xfrm>
        </p:spPr>
        <p:txBody>
          <a:bodyPr/>
          <a:lstStyle/>
          <a:p>
            <a:r>
              <a:rPr lang="pt-BR" sz="3200" dirty="0"/>
              <a:t>Discordância com a gerência da empresa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5"/>
          </p:nvPr>
        </p:nvSpPr>
        <p:spPr>
          <a:xfrm>
            <a:off x="4914900" y="4129697"/>
            <a:ext cx="4618542" cy="1258886"/>
          </a:xfrm>
        </p:spPr>
        <p:txBody>
          <a:bodyPr/>
          <a:lstStyle/>
          <a:p>
            <a:r>
              <a:rPr lang="pt-BR" sz="3200" dirty="0"/>
              <a:t>Seu chefe atua de forma não ética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7"/>
          </p:nvPr>
        </p:nvSpPr>
        <p:spPr>
          <a:xfrm>
            <a:off x="7791450" y="2140149"/>
            <a:ext cx="5624673" cy="1409518"/>
          </a:xfrm>
        </p:spPr>
        <p:txBody>
          <a:bodyPr/>
          <a:lstStyle/>
          <a:p>
            <a:r>
              <a:rPr lang="pt-BR" dirty="0"/>
              <a:t>Desenvolvimento de armas militares ou sistemas nucleares</a:t>
            </a:r>
          </a:p>
        </p:txBody>
      </p:sp>
      <p:sp>
        <p:nvSpPr>
          <p:cNvPr id="20" name="Espaço Reservado para Texto 19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0404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Dúvidas ou Sugestões?</a:t>
            </a:r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Desde já, agradeço a todos.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4294967295"/>
          </p:nvPr>
        </p:nvSpPr>
        <p:spPr>
          <a:xfrm>
            <a:off x="17206913" y="9432925"/>
            <a:ext cx="107950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29</a:t>
            </a:fld>
            <a:endParaRPr lang="ja-JP" altLang="en-US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9603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Texto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pt-BR" dirty="0"/>
              <a:t>SOMMERVILLE, Ian. </a:t>
            </a:r>
            <a:r>
              <a:rPr lang="pt-BR" b="1" dirty="0"/>
              <a:t>Engenharia de software</a:t>
            </a:r>
            <a:r>
              <a:rPr lang="pt-BR" dirty="0"/>
              <a:t>. </a:t>
            </a:r>
            <a:r>
              <a:rPr lang="it-IT" dirty="0"/>
              <a:t>9. ed. — São Paulo : Pearson Prentice Hall, 2011.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pt-BR" dirty="0"/>
              <a:t>PRESSMAN, Roger S.; MAXIM, Bruce R.. </a:t>
            </a:r>
            <a:r>
              <a:rPr lang="pt-BR" b="1" dirty="0"/>
              <a:t>Engenharia de software: uma abordagem profissional</a:t>
            </a:r>
            <a:r>
              <a:rPr lang="pt-BR" dirty="0"/>
              <a:t>. 8. ed. – Porto Alegre : AMGH, 2016.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2718474873"/>
      </p:ext>
    </p:extLst>
  </p:cSld>
  <p:clrMapOvr>
    <a:masterClrMapping/>
  </p:clrMapOvr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16374</TotalTime>
  <Words>1404</Words>
  <Application>Microsoft Office PowerPoint</Application>
  <PresentationFormat>Personalizar</PresentationFormat>
  <Paragraphs>198</Paragraphs>
  <Slides>30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30</vt:i4>
      </vt:variant>
    </vt:vector>
  </HeadingPairs>
  <TitlesOfParts>
    <vt:vector size="43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Wingdings</vt:lpstr>
      <vt:lpstr>Vega - Header</vt:lpstr>
      <vt:lpstr>Vega - Footer Only</vt:lpstr>
      <vt:lpstr>Vega - Free</vt:lpstr>
      <vt:lpstr>Introdução a Engenharia de Software</vt:lpstr>
      <vt:lpstr>Revisão de Engenharia de Software</vt:lpstr>
      <vt:lpstr>O problema</vt:lpstr>
      <vt:lpstr>Objetivos</vt:lpstr>
      <vt:lpstr>Tópicos abordados</vt:lpstr>
      <vt:lpstr>Engenharia de Software</vt:lpstr>
      <vt:lpstr>Custos de software</vt:lpstr>
      <vt:lpstr>Perguntas sobre engenharia de software?</vt:lpstr>
      <vt:lpstr>Perguntas sobre engenharia de software</vt:lpstr>
      <vt:lpstr>O que é software?</vt:lpstr>
      <vt:lpstr>O que é Engenharia de Software?</vt:lpstr>
      <vt:lpstr>Diferença</vt:lpstr>
      <vt:lpstr>O que é um Processo de Software?</vt:lpstr>
      <vt:lpstr>O que é um modelo de software?</vt:lpstr>
      <vt:lpstr>Quais os custos da Engenharia de Software?</vt:lpstr>
      <vt:lpstr>Distribuição dos custos por atividade</vt:lpstr>
      <vt:lpstr>Custos para o desenvolvimento do produto</vt:lpstr>
      <vt:lpstr>Quais são os métodos de engenharia de software?</vt:lpstr>
      <vt:lpstr>Computer-Aided Software Enginnering</vt:lpstr>
      <vt:lpstr>Quais os atributos de um bom software?</vt:lpstr>
      <vt:lpstr>Desafios da Engenharia de Software</vt:lpstr>
      <vt:lpstr>Responsabilidade Profissional e ética</vt:lpstr>
      <vt:lpstr>Responsabilidade profissional</vt:lpstr>
      <vt:lpstr>Responsabilidade profissional</vt:lpstr>
      <vt:lpstr>Código de ética da ACM/IEEE</vt:lpstr>
      <vt:lpstr>Código de ética - princípios</vt:lpstr>
      <vt:lpstr>Código de ética - princípios</vt:lpstr>
      <vt:lpstr>Dilemas éticos</vt:lpstr>
      <vt:lpstr>Dúvidas ou Sugestões?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01 - Introdução à Engenharia de Software</dc:title>
  <dc:creator>Daniel Marques</dc:creator>
  <cp:lastModifiedBy>Daniel Marques</cp:lastModifiedBy>
  <cp:revision>424</cp:revision>
  <dcterms:created xsi:type="dcterms:W3CDTF">2015-09-05T11:42:45Z</dcterms:created>
  <dcterms:modified xsi:type="dcterms:W3CDTF">2026-02-23T10:50:03Z</dcterms:modified>
</cp:coreProperties>
</file>
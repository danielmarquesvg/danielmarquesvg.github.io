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  <p:sldMasterId id="2147483655" r:id="rId3"/>
  </p:sldMasterIdLst>
  <p:notesMasterIdLst>
    <p:notesMasterId r:id="rId35"/>
  </p:notesMasterIdLst>
  <p:sldIdLst>
    <p:sldId id="358" r:id="rId4"/>
    <p:sldId id="409" r:id="rId5"/>
    <p:sldId id="441" r:id="rId6"/>
    <p:sldId id="442" r:id="rId7"/>
    <p:sldId id="445" r:id="rId8"/>
    <p:sldId id="443" r:id="rId9"/>
    <p:sldId id="444" r:id="rId10"/>
    <p:sldId id="446" r:id="rId11"/>
    <p:sldId id="447" r:id="rId12"/>
    <p:sldId id="449" r:id="rId13"/>
    <p:sldId id="450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4" r:id="rId28"/>
    <p:sldId id="465" r:id="rId29"/>
    <p:sldId id="466" r:id="rId30"/>
    <p:sldId id="467" r:id="rId31"/>
    <p:sldId id="468" r:id="rId32"/>
    <p:sldId id="469" r:id="rId33"/>
    <p:sldId id="376" r:id="rId34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84460" autoAdjust="0"/>
  </p:normalViewPr>
  <p:slideViewPr>
    <p:cSldViewPr snapToGrid="0">
      <p:cViewPr varScale="1">
        <p:scale>
          <a:sx n="49" d="100"/>
          <a:sy n="49" d="100"/>
        </p:scale>
        <p:origin x="474" y="42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2026/5/4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41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5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88821" y="4569818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62963" y="2034923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3" y="482903"/>
            <a:ext cx="2658086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750"/>
                            </p:stCondLst>
                            <p:childTnLst>
                              <p:par>
                                <p:cTn id="7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75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25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2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2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25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AA1507-2A46-1971-BE96-3D9F65858198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0" y="9310884"/>
            <a:ext cx="4081080" cy="9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D85CE19-F79C-32A1-BBFB-07E7E319A271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0" y="9310884"/>
            <a:ext cx="4081080" cy="9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6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3BE303E-1D00-5D01-01C5-3E489D729747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800" y="9310884"/>
            <a:ext cx="4081080" cy="93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1.jp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7200" dirty="0" err="1">
                <a:latin typeface="Route 159 Bold" panose="00000800000000000000" pitchFamily="50" charset="0"/>
              </a:rPr>
              <a:t>Métodos</a:t>
            </a:r>
            <a:r>
              <a:rPr lang="en-US" altLang="ja-JP" sz="7200" dirty="0">
                <a:latin typeface="Route 159 Bold" panose="00000800000000000000" pitchFamily="50" charset="0"/>
              </a:rPr>
              <a:t> </a:t>
            </a:r>
            <a:r>
              <a:rPr lang="en-US" altLang="ja-JP" sz="7200" dirty="0" err="1">
                <a:latin typeface="Route 159 Bold" panose="00000800000000000000" pitchFamily="50" charset="0"/>
              </a:rPr>
              <a:t>Ágeis</a:t>
            </a:r>
            <a:endParaRPr kumimoji="1" lang="ja-JP" altLang="en-US" sz="7200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28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10 – </a:t>
            </a:r>
            <a:r>
              <a:rPr lang="en-US" altLang="ja-JP" dirty="0" err="1"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latin typeface="Route 159 Bold" panose="00000800000000000000" pitchFamily="50" charset="0"/>
              </a:rPr>
              <a:t> de Software e </a:t>
            </a:r>
            <a:r>
              <a:rPr lang="en-US" altLang="ja-JP" dirty="0" err="1">
                <a:latin typeface="Route 159 Bold" panose="00000800000000000000" pitchFamily="50" charset="0"/>
              </a:rPr>
              <a:t>gestão</a:t>
            </a:r>
            <a:r>
              <a:rPr lang="en-US" altLang="ja-JP" dirty="0">
                <a:latin typeface="Route 159 Bold" panose="00000800000000000000" pitchFamily="50" charset="0"/>
              </a:rPr>
              <a:t> de times </a:t>
            </a:r>
            <a:r>
              <a:rPr lang="en-US" altLang="ja-JP" dirty="0" err="1">
                <a:latin typeface="Route 159 Bold" panose="00000800000000000000" pitchFamily="50" charset="0"/>
              </a:rPr>
              <a:t>ágeis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 da aula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Manifesto Ágil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/>
              <a:t>Princípios do Manifesto Ágil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Métodos Ágeis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 err="1"/>
              <a:t>Scrum</a:t>
            </a:r>
            <a:endParaRPr lang="pt-BR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XP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72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Introdução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Desenvolvimento de software é imprevisível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/>
              <a:t>Empresas operam em ambiente global com mudanças rápidas</a:t>
            </a: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Reconhecer e se adaptar as mudanças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4"/>
          </p:nvPr>
        </p:nvSpPr>
        <p:spPr>
          <a:xfrm>
            <a:off x="4457701" y="7843800"/>
            <a:ext cx="7894394" cy="720080"/>
          </a:xfrm>
        </p:spPr>
        <p:txBody>
          <a:bodyPr/>
          <a:lstStyle/>
          <a:p>
            <a:r>
              <a:rPr lang="pt-BR" sz="2400" dirty="0"/>
              <a:t>Construir software pela metodologia clássica e perceber que as especificações mudam</a:t>
            </a: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851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Introdução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Imagem 16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8" name="Espaço Reservado para Imagem 17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9" name="Espaço Reservado para Imagem 18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0" name="Espaço Reservado para Imagem 19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21" name="Espaço Reservado para Texto 2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Métodos ágeis surgem para suprir esta necessidade rápida de mudança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O software é desenvolvido como uma série de incrementos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Seguem uma filosofia diferente focando principalmente nos resultados (processo ainda é importante)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Menos ênfase nas definições de atividades e mais prática e nos fatores humanos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767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Temos um problema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22" name="Espaço Reservado para Imagem 21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" r="694"/>
          <a:stretch>
            <a:fillRect/>
          </a:stretch>
        </p:blipFill>
        <p:spPr/>
      </p:pic>
      <p:sp>
        <p:nvSpPr>
          <p:cNvPr id="18" name="Espaço Reservado para Texto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3600" dirty="0">
                <a:latin typeface="Route 159 SemiBold" panose="00000700000000000000" pitchFamily="50" charset="0"/>
              </a:rPr>
              <a:t>Por causa dos problemas acima, surgiu o MANIFESTO ÁGIL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Aplicar essa abordagem em sistemas corporativos de pequeno e médio porte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Gasta-se mais tempo em análises de como o sistema deve ser construído do que o programa e os testes em si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A insatisfação com essas abordagens pesadas levou em 1990, uma grande quantidade de desenvolvedores a propor método ágeis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84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9600" dirty="0">
                <a:latin typeface="Route 159 SemiBold" panose="00000700000000000000" pitchFamily="50" charset="0"/>
              </a:rPr>
              <a:t>Ágil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9600" dirty="0">
                <a:latin typeface="Route 159 SemiBold" panose="00000700000000000000" pitchFamily="50" charset="0"/>
              </a:rPr>
              <a:t>Rápido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17" name="Diferente de 16"/>
          <p:cNvSpPr/>
          <p:nvPr/>
        </p:nvSpPr>
        <p:spPr>
          <a:xfrm>
            <a:off x="7137889" y="4293198"/>
            <a:ext cx="2164677" cy="1162050"/>
          </a:xfrm>
          <a:prstGeom prst="mathNotEqual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8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1980 - 1990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7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7"/>
          </p:nvPr>
        </p:nvSpPr>
        <p:spPr>
          <a:xfrm>
            <a:off x="419100" y="3103641"/>
            <a:ext cx="7817127" cy="2823902"/>
          </a:xfrm>
        </p:spPr>
        <p:txBody>
          <a:bodyPr/>
          <a:lstStyle/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Um planejamento cuidadoso do projeto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Qualidade da segurança formalizada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Uso de métodos de análise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Projetos apoiados por ferramentas CASE</a:t>
            </a:r>
          </a:p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Um processo de software rigoroso e controlado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3200" dirty="0">
                <a:latin typeface="Route 159 SemiBold" panose="00000700000000000000" pitchFamily="50" charset="0"/>
              </a:rPr>
              <a:t>Visão baseada nos engenheiros de software responsáveis pelo desenvolvimento de sistemas de softwares grandes e duradouros, como sistemas espaciais e do governo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Route 159 SemiBold" panose="00000700000000000000" pitchFamily="50" charset="0"/>
              </a:rPr>
              <a:t>Visão do que se tinha de software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Route 159 SemiBold" panose="00000700000000000000" pitchFamily="50" charset="0"/>
              </a:rPr>
              <a:t>Quem criou esta visão de software?</a:t>
            </a:r>
          </a:p>
        </p:txBody>
      </p:sp>
    </p:spTree>
    <p:extLst>
      <p:ext uri="{BB962C8B-B14F-4D97-AF65-F5344CB8AC3E}">
        <p14:creationId xmlns:p14="http://schemas.microsoft.com/office/powerpoint/2010/main" val="272170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Manifesto Ágil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>
          <a:xfrm>
            <a:off x="1745061" y="4355604"/>
            <a:ext cx="3265090" cy="3312368"/>
          </a:xfrm>
        </p:spPr>
        <p:txBody>
          <a:bodyPr>
            <a:normAutofit fontScale="92500"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Kent Beck	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Mike </a:t>
            </a:r>
            <a:r>
              <a:rPr lang="pt-BR" sz="2800" dirty="0" err="1">
                <a:latin typeface="Route 159 SemiBold" panose="00000700000000000000" pitchFamily="50" charset="0"/>
              </a:rPr>
              <a:t>Beedle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>
                <a:latin typeface="Route 159 SemiBold" panose="00000700000000000000" pitchFamily="50" charset="0"/>
              </a:rPr>
              <a:t>Arie van </a:t>
            </a:r>
            <a:r>
              <a:rPr lang="pt-BR" sz="2800" dirty="0" err="1">
                <a:latin typeface="Route 159 SemiBold" panose="00000700000000000000" pitchFamily="50" charset="0"/>
              </a:rPr>
              <a:t>Bennekun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 err="1">
                <a:latin typeface="Route 159 SemiBold" panose="00000700000000000000" pitchFamily="50" charset="0"/>
              </a:rPr>
              <a:t>Alistair</a:t>
            </a:r>
            <a:r>
              <a:rPr lang="pt-BR" sz="2800" dirty="0">
                <a:latin typeface="Route 159 SemiBold" panose="00000700000000000000" pitchFamily="50" charset="0"/>
              </a:rPr>
              <a:t> Cockburn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Dave Thomas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Documento assinado por 17 pesquisadores</a:t>
            </a:r>
          </a:p>
        </p:txBody>
      </p:sp>
      <p:sp>
        <p:nvSpPr>
          <p:cNvPr id="12" name="Espaço Reservado para Texto 10"/>
          <p:cNvSpPr txBox="1">
            <a:spLocks/>
          </p:cNvSpPr>
          <p:nvPr/>
        </p:nvSpPr>
        <p:spPr>
          <a:xfrm>
            <a:off x="10039351" y="4365476"/>
            <a:ext cx="3265090" cy="3312368"/>
          </a:xfrm>
          <a:prstGeom prst="rect">
            <a:avLst/>
          </a:prstGeom>
        </p:spPr>
        <p:txBody>
          <a:bodyPr vert="horz" lIns="163275" tIns="81638" rIns="163275" bIns="81638" rtlCol="0" anchor="t">
            <a:normAutofit/>
          </a:bodyPr>
          <a:lstStyle>
            <a:lvl1pPr marL="0" indent="0" algn="l" defTabSz="1632753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kumimoji="1"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26612" indent="-510235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5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0941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317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3693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90070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06446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2822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939199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latin typeface="Route 159 SemiBold" panose="00000700000000000000" pitchFamily="50" charset="0"/>
              </a:rPr>
              <a:t>Andrew Hunt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Ron </a:t>
            </a:r>
            <a:r>
              <a:rPr lang="pt-BR" sz="2800" dirty="0" err="1">
                <a:latin typeface="Route 159 SemiBold" panose="00000700000000000000" pitchFamily="50" charset="0"/>
              </a:rPr>
              <a:t>Jeffries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>
                <a:latin typeface="Route 159 SemiBold" panose="00000700000000000000" pitchFamily="50" charset="0"/>
              </a:rPr>
              <a:t>Jon </a:t>
            </a:r>
            <a:r>
              <a:rPr lang="pt-BR" sz="2800" dirty="0" err="1">
                <a:latin typeface="Route 159 SemiBold" panose="00000700000000000000" pitchFamily="50" charset="0"/>
              </a:rPr>
              <a:t>Kern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>
                <a:latin typeface="Route 159 SemiBold" panose="00000700000000000000" pitchFamily="50" charset="0"/>
              </a:rPr>
              <a:t>Brian </a:t>
            </a:r>
            <a:r>
              <a:rPr lang="pt-BR" sz="2800" dirty="0" err="1">
                <a:latin typeface="Route 159 SemiBold" panose="00000700000000000000" pitchFamily="50" charset="0"/>
              </a:rPr>
              <a:t>Marick</a:t>
            </a:r>
            <a:endParaRPr lang="pt-BR" sz="2800" dirty="0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0"/>
          <p:cNvSpPr txBox="1">
            <a:spLocks/>
          </p:cNvSpPr>
          <p:nvPr/>
        </p:nvSpPr>
        <p:spPr>
          <a:xfrm>
            <a:off x="5783660" y="4355604"/>
            <a:ext cx="3607989" cy="3312368"/>
          </a:xfrm>
          <a:prstGeom prst="rect">
            <a:avLst/>
          </a:prstGeom>
        </p:spPr>
        <p:txBody>
          <a:bodyPr vert="horz" lIns="163275" tIns="81638" rIns="163275" bIns="81638" rtlCol="0" anchor="t">
            <a:normAutofit/>
          </a:bodyPr>
          <a:lstStyle>
            <a:lvl1pPr marL="0" indent="0" algn="l" defTabSz="1632753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kumimoji="1"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26612" indent="-510235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5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0941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317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3693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90070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06446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2822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939199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latin typeface="Route 159 SemiBold" panose="00000700000000000000" pitchFamily="50" charset="0"/>
              </a:rPr>
              <a:t>Ward Cunningham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Martin Fowler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James </a:t>
            </a:r>
            <a:r>
              <a:rPr lang="pt-BR" sz="2800" dirty="0" err="1">
                <a:latin typeface="Route 159 SemiBold" panose="00000700000000000000" pitchFamily="50" charset="0"/>
              </a:rPr>
              <a:t>Grenning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>
                <a:latin typeface="Route 159 SemiBold" panose="00000700000000000000" pitchFamily="50" charset="0"/>
              </a:rPr>
              <a:t>Jim </a:t>
            </a:r>
            <a:r>
              <a:rPr lang="pt-BR" sz="2800" dirty="0" err="1">
                <a:latin typeface="Route 159 SemiBold" panose="00000700000000000000" pitchFamily="50" charset="0"/>
              </a:rPr>
              <a:t>Highsmith</a:t>
            </a:r>
            <a:endParaRPr lang="pt-BR" sz="2800" dirty="0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0"/>
          <p:cNvSpPr txBox="1">
            <a:spLocks/>
          </p:cNvSpPr>
          <p:nvPr/>
        </p:nvSpPr>
        <p:spPr>
          <a:xfrm>
            <a:off x="13304441" y="4365476"/>
            <a:ext cx="3265090" cy="3312368"/>
          </a:xfrm>
          <a:prstGeom prst="rect">
            <a:avLst/>
          </a:prstGeom>
        </p:spPr>
        <p:txBody>
          <a:bodyPr vert="horz" lIns="163275" tIns="81638" rIns="163275" bIns="81638" rtlCol="0" anchor="t">
            <a:normAutofit/>
          </a:bodyPr>
          <a:lstStyle>
            <a:lvl1pPr marL="0" indent="0" algn="l" defTabSz="1632753" rtl="0" eaLnBrk="1" latinLnBrk="0" hangingPunct="1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None/>
              <a:defRPr kumimoji="1"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326612" indent="-510235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5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40941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4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57317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3693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90070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06446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122822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939199" indent="-408188" algn="l" defTabSz="1632753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>
                <a:latin typeface="Route 159 SemiBold" panose="00000700000000000000" pitchFamily="50" charset="0"/>
              </a:rPr>
              <a:t>Robert C. Martin</a:t>
            </a:r>
          </a:p>
          <a:p>
            <a:r>
              <a:rPr lang="pt-BR" sz="2800" dirty="0">
                <a:latin typeface="Route 159 SemiBold" panose="00000700000000000000" pitchFamily="50" charset="0"/>
              </a:rPr>
              <a:t>Steve </a:t>
            </a:r>
            <a:r>
              <a:rPr lang="pt-BR" sz="2800" dirty="0" err="1">
                <a:latin typeface="Route 159 SemiBold" panose="00000700000000000000" pitchFamily="50" charset="0"/>
              </a:rPr>
              <a:t>Mellor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>
                <a:latin typeface="Route 159 SemiBold" panose="00000700000000000000" pitchFamily="50" charset="0"/>
              </a:rPr>
              <a:t>Ken </a:t>
            </a:r>
            <a:r>
              <a:rPr lang="pt-BR" sz="2800" dirty="0" err="1">
                <a:latin typeface="Route 159 SemiBold" panose="00000700000000000000" pitchFamily="50" charset="0"/>
              </a:rPr>
              <a:t>Schwaber</a:t>
            </a:r>
            <a:endParaRPr lang="pt-BR" sz="2800" dirty="0">
              <a:latin typeface="Route 159 SemiBold" panose="00000700000000000000" pitchFamily="50" charset="0"/>
            </a:endParaRPr>
          </a:p>
          <a:p>
            <a:r>
              <a:rPr lang="pt-BR" sz="2800" dirty="0">
                <a:latin typeface="Route 159 SemiBold" panose="00000700000000000000" pitchFamily="50" charset="0"/>
              </a:rPr>
              <a:t>Jeff Sutherland</a:t>
            </a:r>
          </a:p>
        </p:txBody>
      </p:sp>
    </p:spTree>
    <p:extLst>
      <p:ext uri="{BB962C8B-B14F-4D97-AF65-F5344CB8AC3E}">
        <p14:creationId xmlns:p14="http://schemas.microsoft.com/office/powerpoint/2010/main" val="3816442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Manifesto Ágil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9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Documento formado por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Valores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Princípios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4"/>
          </p:nvPr>
        </p:nvSpPr>
        <p:spPr>
          <a:xfrm>
            <a:off x="1191416" y="7186782"/>
            <a:ext cx="15959754" cy="1893718"/>
          </a:xfrm>
        </p:spPr>
        <p:txBody>
          <a:bodyPr>
            <a:normAutofit/>
          </a:bodyPr>
          <a:lstStyle/>
          <a:p>
            <a:pPr algn="just"/>
            <a:r>
              <a:rPr lang="pt-BR" sz="3600" dirty="0">
                <a:latin typeface="Route 159 SemiBold" panose="00000700000000000000" pitchFamily="50" charset="0"/>
              </a:rPr>
              <a:t>“Estamos descobrindo maneiras melhores de desenvolver software fazendo-o nós mesmos e ajudando outros a fazê-lo”</a:t>
            </a:r>
          </a:p>
        </p:txBody>
      </p:sp>
    </p:spTree>
    <p:extLst>
      <p:ext uri="{BB962C8B-B14F-4D97-AF65-F5344CB8AC3E}">
        <p14:creationId xmlns:p14="http://schemas.microsoft.com/office/powerpoint/2010/main" val="1652229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Manifesto Ágil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10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Valores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Indivíduos e Interações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Software Funcionando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Colaboração do Cliente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Responder às mudanças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7"/>
          </p:nvPr>
        </p:nvSpPr>
        <p:spPr>
          <a:xfrm>
            <a:off x="10958898" y="3881685"/>
            <a:ext cx="7100501" cy="47267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Processos e Ferramentas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Documentação compreensível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Negociação do Contrato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Seguir um plano</a:t>
            </a:r>
          </a:p>
        </p:txBody>
      </p:sp>
      <p:sp>
        <p:nvSpPr>
          <p:cNvPr id="11" name="Divisa 10"/>
          <p:cNvSpPr/>
          <p:nvPr/>
        </p:nvSpPr>
        <p:spPr>
          <a:xfrm>
            <a:off x="8856617" y="4675134"/>
            <a:ext cx="1295400" cy="1562100"/>
          </a:xfrm>
          <a:prstGeom prst="chevron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pt-BR" dirty="0">
                <a:solidFill>
                  <a:schemeClr val="tx1"/>
                </a:solidFill>
              </a:rPr>
              <a:t>Maior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que</a:t>
            </a:r>
            <a:endParaRPr kumimoji="1"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5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Manifesto Ágil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11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Princípios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Nossa maior prioridade é </a:t>
            </a:r>
            <a:r>
              <a:rPr lang="pt-BR" sz="2000" b="1" dirty="0">
                <a:latin typeface="Route 159 SemiBold" panose="00000700000000000000" pitchFamily="50" charset="0"/>
              </a:rPr>
              <a:t>satisfazer o cliente</a:t>
            </a:r>
            <a:r>
              <a:rPr lang="pt-BR" sz="2000" dirty="0">
                <a:latin typeface="Route 159 SemiBold" panose="00000700000000000000" pitchFamily="50" charset="0"/>
              </a:rPr>
              <a:t>, através da entrega adiantada e contínua de software de valor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pt-BR" sz="2000" b="1" dirty="0">
                <a:latin typeface="Route 159 SemiBold" panose="00000700000000000000" pitchFamily="50" charset="0"/>
              </a:rPr>
              <a:t>Aceitar mudanças </a:t>
            </a:r>
            <a:r>
              <a:rPr lang="pt-BR" sz="2000" dirty="0">
                <a:latin typeface="Route 159 SemiBold" panose="00000700000000000000" pitchFamily="50" charset="0"/>
              </a:rPr>
              <a:t>de requisitos, mesmo no fim do desenvolvimento. Processos ágeis se adequam a mudanças, para que o cliente possa tirar vantagens competitivas.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just"/>
            <a:r>
              <a:rPr lang="pt-BR" sz="2000" b="1" dirty="0">
                <a:latin typeface="Route 159 SemiBold" panose="00000700000000000000" pitchFamily="50" charset="0"/>
              </a:rPr>
              <a:t>Entregar software funcionando com </a:t>
            </a:r>
            <a:r>
              <a:rPr lang="pt-BR" sz="2000" b="1" dirty="0" err="1">
                <a:latin typeface="Route 159 SemiBold" panose="00000700000000000000" pitchFamily="50" charset="0"/>
              </a:rPr>
              <a:t>freqüencia</a:t>
            </a:r>
            <a:r>
              <a:rPr lang="pt-BR" sz="2000" dirty="0">
                <a:latin typeface="Route 159 SemiBold" panose="00000700000000000000" pitchFamily="50" charset="0"/>
              </a:rPr>
              <a:t>, na escala de semanas até meses, com preferência aos períodos mais curtos.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Pessoas relacionadas a negócios e desenvolvedores devem </a:t>
            </a:r>
            <a:r>
              <a:rPr lang="pt-BR" sz="2000" b="1" dirty="0">
                <a:latin typeface="Route 159 SemiBold" panose="00000700000000000000" pitchFamily="50" charset="0"/>
              </a:rPr>
              <a:t>trabalhar em conjunto </a:t>
            </a:r>
            <a:r>
              <a:rPr lang="pt-BR" sz="2000" dirty="0">
                <a:latin typeface="Route 159 SemiBold" panose="00000700000000000000" pitchFamily="50" charset="0"/>
              </a:rPr>
              <a:t>e diariamente, durante todo o curso do projeto.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Construir projetos ao redor de </a:t>
            </a:r>
            <a:r>
              <a:rPr lang="pt-BR" sz="2000" b="1" dirty="0">
                <a:latin typeface="Route 159 SemiBold" panose="00000700000000000000" pitchFamily="50" charset="0"/>
              </a:rPr>
              <a:t>indivíduos motivados</a:t>
            </a:r>
            <a:r>
              <a:rPr lang="pt-BR" sz="2000" dirty="0">
                <a:latin typeface="Route 159 SemiBold" panose="00000700000000000000" pitchFamily="50" charset="0"/>
              </a:rPr>
              <a:t>. Dando a eles o ambiente e suporte necessário, e confiar que farão seu trabalho.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Satisfazer o cliente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Indivíduos motivados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/>
              <a:t>Aceitar mudanças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/>
              <a:t>Entregar software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Trabalhar em conjunto</a:t>
            </a:r>
          </a:p>
        </p:txBody>
      </p:sp>
    </p:spTree>
    <p:extLst>
      <p:ext uri="{BB962C8B-B14F-4D97-AF65-F5344CB8AC3E}">
        <p14:creationId xmlns:p14="http://schemas.microsoft.com/office/powerpoint/2010/main" val="1113831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Manifesto Ágil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12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Princípios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pt-BR" sz="2000" dirty="0">
                <a:latin typeface="Route 159 SemiBold" panose="00000700000000000000" pitchFamily="50" charset="0"/>
              </a:rPr>
              <a:t>O Método mais eficiente e eficaz de transmitir informações para, e por dentro de um time de desenvolvimento, é através de uma </a:t>
            </a:r>
            <a:r>
              <a:rPr lang="pt-BR" sz="2000" b="1" dirty="0">
                <a:latin typeface="Route 159 SemiBold" panose="00000700000000000000" pitchFamily="50" charset="0"/>
              </a:rPr>
              <a:t>conversa cara a cara</a:t>
            </a:r>
            <a:r>
              <a:rPr lang="pt-BR" sz="20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b="1" dirty="0">
                <a:latin typeface="Route 159 SemiBold" panose="00000700000000000000" pitchFamily="50" charset="0"/>
              </a:rPr>
              <a:t>Software funcional </a:t>
            </a:r>
            <a:r>
              <a:rPr lang="pt-BR" sz="2400" dirty="0">
                <a:latin typeface="Route 159 SemiBold" panose="00000700000000000000" pitchFamily="50" charset="0"/>
              </a:rPr>
              <a:t>é a medida primária de progresso.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Processos ágeis promovem um </a:t>
            </a:r>
            <a:r>
              <a:rPr lang="pt-BR" b="1" dirty="0">
                <a:latin typeface="Route 159 SemiBold" panose="00000700000000000000" pitchFamily="50" charset="0"/>
              </a:rPr>
              <a:t>ambiente sustentável</a:t>
            </a:r>
            <a:r>
              <a:rPr lang="pt-BR" dirty="0">
                <a:latin typeface="Route 159 SemiBold" panose="00000700000000000000" pitchFamily="50" charset="0"/>
              </a:rPr>
              <a:t>. Os patrocinadores, desenvolvedores e usuários, devem ser capazes de manter indefinidamente, passos constantes.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Contínua atenção à </a:t>
            </a:r>
            <a:r>
              <a:rPr lang="pt-BR" sz="2400" b="1" dirty="0">
                <a:latin typeface="Route 159 SemiBold" panose="00000700000000000000" pitchFamily="50" charset="0"/>
              </a:rPr>
              <a:t>excelência técnica </a:t>
            </a:r>
            <a:r>
              <a:rPr lang="pt-BR" sz="2400" dirty="0">
                <a:latin typeface="Route 159 SemiBold" panose="00000700000000000000" pitchFamily="50" charset="0"/>
              </a:rPr>
              <a:t>e bom design, aumenta a agilidade.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r>
              <a:rPr lang="pt-BR" sz="2400" b="1" dirty="0">
                <a:latin typeface="Route 159 SemiBold" panose="00000700000000000000" pitchFamily="50" charset="0"/>
              </a:rPr>
              <a:t>Simplicidade</a:t>
            </a:r>
            <a:r>
              <a:rPr lang="pt-BR" sz="2400" dirty="0">
                <a:latin typeface="Route 159 SemiBold" panose="00000700000000000000" pitchFamily="50" charset="0"/>
              </a:rPr>
              <a:t>: a arte de maximizar a quantidade de trabalho que não precisou ser feito.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Conversa cara a cara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Simplicidade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/>
              <a:t>Software Funcional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/>
              <a:t>Ambiente sustentável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Excelência técnica</a:t>
            </a:r>
          </a:p>
        </p:txBody>
      </p:sp>
    </p:spTree>
    <p:extLst>
      <p:ext uri="{BB962C8B-B14F-4D97-AF65-F5344CB8AC3E}">
        <p14:creationId xmlns:p14="http://schemas.microsoft.com/office/powerpoint/2010/main" val="4116919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Manifesto Ágil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13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Princípios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As melhores arquiteturas, requisitos e designs emergem de times </a:t>
            </a:r>
            <a:r>
              <a:rPr lang="pt-BR" sz="2400" b="1" dirty="0" err="1">
                <a:latin typeface="Route 159 SemiBold" panose="00000700000000000000" pitchFamily="50" charset="0"/>
              </a:rPr>
              <a:t>auto-organizáveis</a:t>
            </a:r>
            <a:r>
              <a:rPr lang="pt-BR" sz="24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92500"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Em intervalos regulares, o </a:t>
            </a:r>
            <a:r>
              <a:rPr lang="pt-BR" sz="2400" b="1" dirty="0">
                <a:latin typeface="Route 159 SemiBold" panose="00000700000000000000" pitchFamily="50" charset="0"/>
              </a:rPr>
              <a:t>time reflete </a:t>
            </a:r>
            <a:r>
              <a:rPr lang="pt-BR" sz="2400" dirty="0">
                <a:latin typeface="Route 159 SemiBold" panose="00000700000000000000" pitchFamily="50" charset="0"/>
              </a:rPr>
              <a:t>em como ficar mais efetivo, então, se </a:t>
            </a:r>
            <a:r>
              <a:rPr lang="pt-BR" sz="2400" b="1" dirty="0">
                <a:latin typeface="Route 159 SemiBold" panose="00000700000000000000" pitchFamily="50" charset="0"/>
              </a:rPr>
              <a:t>ajusta </a:t>
            </a:r>
            <a:r>
              <a:rPr lang="pt-BR" sz="2400" dirty="0">
                <a:latin typeface="Route 159 SemiBold" panose="00000700000000000000" pitchFamily="50" charset="0"/>
              </a:rPr>
              <a:t>e otimiza seu comportamento de acordo.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 err="1"/>
              <a:t>Auto-organizáveis</a:t>
            </a:r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/>
              <a:t>Time 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660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Métodos Ágeis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Modelos de desenvolvimento de software considerados ágeis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1"/>
          </p:nvPr>
        </p:nvSpPr>
        <p:spPr>
          <a:xfrm>
            <a:off x="1819016" y="2891911"/>
            <a:ext cx="4270738" cy="720080"/>
          </a:xfrm>
        </p:spPr>
        <p:txBody>
          <a:bodyPr/>
          <a:lstStyle/>
          <a:p>
            <a:r>
              <a:rPr lang="pt-BR" dirty="0"/>
              <a:t>Test-</a:t>
            </a:r>
            <a:r>
              <a:rPr lang="pt-BR" dirty="0" err="1"/>
              <a:t>Driven</a:t>
            </a:r>
            <a:r>
              <a:rPr lang="pt-BR" dirty="0"/>
              <a:t> </a:t>
            </a:r>
            <a:r>
              <a:rPr lang="pt-BR" dirty="0" err="1"/>
              <a:t>Development</a:t>
            </a:r>
            <a:endParaRPr lang="pt-BR" dirty="0"/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6"/>
          </p:nvPr>
        </p:nvSpPr>
        <p:spPr>
          <a:xfrm>
            <a:off x="7564629" y="2930011"/>
            <a:ext cx="4270738" cy="720080"/>
          </a:xfrm>
        </p:spPr>
        <p:txBody>
          <a:bodyPr/>
          <a:lstStyle/>
          <a:p>
            <a:r>
              <a:rPr lang="pt-BR" sz="2800" dirty="0" err="1"/>
              <a:t>Dynamic</a:t>
            </a:r>
            <a:r>
              <a:rPr lang="pt-BR" sz="2800" dirty="0"/>
              <a:t> System </a:t>
            </a:r>
            <a:r>
              <a:rPr lang="pt-BR" sz="2800" dirty="0" err="1"/>
              <a:t>Development</a:t>
            </a:r>
            <a:r>
              <a:rPr lang="pt-BR" sz="2800" dirty="0"/>
              <a:t> </a:t>
            </a:r>
            <a:r>
              <a:rPr lang="pt-BR" sz="2800" dirty="0" err="1"/>
              <a:t>Method</a:t>
            </a:r>
            <a:endParaRPr lang="pt-BR" sz="2800" dirty="0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 err="1"/>
              <a:t>Scrum</a:t>
            </a:r>
            <a:endParaRPr lang="pt-BR" dirty="0"/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pt-BR" dirty="0"/>
              <a:t>XP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t-BR" dirty="0"/>
              <a:t>Crystal </a:t>
            </a:r>
            <a:r>
              <a:rPr lang="pt-BR" dirty="0" err="1"/>
              <a:t>Clear</a:t>
            </a:r>
            <a:endParaRPr lang="pt-BR" dirty="0"/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38"/>
          </p:nvPr>
        </p:nvSpPr>
        <p:spPr>
          <a:xfrm>
            <a:off x="13335462" y="6078575"/>
            <a:ext cx="4270738" cy="720080"/>
          </a:xfrm>
        </p:spPr>
        <p:txBody>
          <a:bodyPr/>
          <a:lstStyle/>
          <a:p>
            <a:r>
              <a:rPr lang="pt-BR" dirty="0" err="1"/>
              <a:t>Adaptative</a:t>
            </a:r>
            <a:r>
              <a:rPr lang="pt-BR" dirty="0"/>
              <a:t> Software </a:t>
            </a:r>
            <a:r>
              <a:rPr lang="pt-BR" dirty="0" err="1"/>
              <a:t>Development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649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Métodos Ágeis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Empresas que usam:</a:t>
            </a:r>
          </a:p>
        </p:txBody>
      </p:sp>
      <p:pic>
        <p:nvPicPr>
          <p:cNvPr id="30" name="Espaço Reservado para Imagem 29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1" r="4831"/>
          <a:stretch>
            <a:fillRect/>
          </a:stretch>
        </p:blipFill>
        <p:spPr/>
      </p:pic>
      <p:pic>
        <p:nvPicPr>
          <p:cNvPr id="31" name="Espaço Reservado para Imagem 30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3" t="-4442" r="4313" b="-23269"/>
          <a:stretch/>
        </p:blipFill>
        <p:spPr/>
      </p:pic>
      <p:pic>
        <p:nvPicPr>
          <p:cNvPr id="34" name="Espaço Reservado para Imagem 33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04" t="-22691" r="-5023" b="-40439"/>
          <a:stretch/>
        </p:blipFill>
        <p:spPr/>
      </p:pic>
      <p:pic>
        <p:nvPicPr>
          <p:cNvPr id="37" name="Espaço Reservado para Imagem 36"/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17" t="-44782" r="-3913" b="-87016"/>
          <a:stretch/>
        </p:blipFill>
        <p:spPr/>
      </p:pic>
      <p:pic>
        <p:nvPicPr>
          <p:cNvPr id="38" name="Espaço Reservado para Imagem 37"/>
          <p:cNvPicPr>
            <a:picLocks noGrp="1" noChangeAspect="1"/>
          </p:cNvPicPr>
          <p:nvPr>
            <p:ph type="pic" sz="quarter" idx="18"/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6" r="4118"/>
          <a:stretch/>
        </p:blipFill>
        <p:spPr/>
      </p:pic>
      <p:sp>
        <p:nvSpPr>
          <p:cNvPr id="24" name="Espaço Reservado para Texto 2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Microsoft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Yahoo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 err="1">
                <a:latin typeface="Route 159 SemiBold" panose="00000700000000000000" pitchFamily="50" charset="0"/>
              </a:rPr>
              <a:t>ThoughtWorks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Intel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Google</a:t>
            </a: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 dirty="0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234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2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Route 159 SemiBold" panose="00000700000000000000" pitchFamily="50" charset="0"/>
              </a:rPr>
              <a:t>Scrum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16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16"/>
          </p:nvPr>
        </p:nvSpPr>
        <p:spPr>
          <a:xfrm>
            <a:off x="419100" y="2767236"/>
            <a:ext cx="6286500" cy="4032448"/>
          </a:xfrm>
        </p:spPr>
        <p:txBody>
          <a:bodyPr>
            <a:norm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Route 159 SemiBold" panose="00000700000000000000" pitchFamily="50" charset="0"/>
              </a:rPr>
              <a:t>Modelo ágil de gestão de projeto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Route 159 SemiBold" panose="00000700000000000000" pitchFamily="50" charset="0"/>
              </a:rPr>
              <a:t>Conceito mais importante se chama Sprint (ou ciclo)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Route 159 SemiBold" panose="00000700000000000000" pitchFamily="50" charset="0"/>
              </a:rPr>
              <a:t>Origem na indústria automobilística</a:t>
            </a:r>
          </a:p>
        </p:txBody>
      </p:sp>
      <p:pic>
        <p:nvPicPr>
          <p:cNvPr id="35" name="Espaço Reservado para Imagem 3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" b="77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651632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Perfis importantes no </a:t>
            </a:r>
            <a:r>
              <a:rPr lang="pt-BR" dirty="0" err="1">
                <a:latin typeface="Route 159 SemiBold" panose="00000700000000000000" pitchFamily="50" charset="0"/>
              </a:rPr>
              <a:t>Scrum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17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7" b="39895"/>
          <a:stretch/>
        </p:blipFill>
        <p:spPr/>
      </p:pic>
      <p:sp>
        <p:nvSpPr>
          <p:cNvPr id="13" name="Espaço Reservado para Texto 1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19" name="Espaço Reservado para Imagem 18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0381" t="11206" r="-79413" b="26729"/>
          <a:stretch/>
        </p:blipFill>
        <p:spPr/>
      </p:pic>
      <p:pic>
        <p:nvPicPr>
          <p:cNvPr id="21" name="Espaço Reservado para Imagem 20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551" t="2042" r="-22120" b="29843"/>
          <a:stretch/>
        </p:blipFill>
        <p:spPr/>
      </p:pic>
    </p:spTree>
    <p:extLst>
      <p:ext uri="{BB962C8B-B14F-4D97-AF65-F5344CB8AC3E}">
        <p14:creationId xmlns:p14="http://schemas.microsoft.com/office/powerpoint/2010/main" val="3439780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Perfis importantes no </a:t>
            </a:r>
            <a:r>
              <a:rPr lang="pt-BR" dirty="0" err="1">
                <a:latin typeface="Route 159 SemiBold" panose="00000700000000000000" pitchFamily="50" charset="0"/>
              </a:rPr>
              <a:t>Scrum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14" name="Espaço Reservado para Imagem 13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" t="-9397" r="-1162" b="55429"/>
          <a:stretch/>
        </p:blipFill>
        <p:spPr/>
      </p:pic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Responsável pelo projeto em si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Indicar quais requisitos são os mais importantes em cada ciclo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Responsável por conhecer e avaliar as necessidades do cliente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Proprietária do produto (</a:t>
            </a:r>
            <a:r>
              <a:rPr lang="pt-BR" dirty="0" err="1"/>
              <a:t>product</a:t>
            </a:r>
            <a:r>
              <a:rPr lang="pt-BR" dirty="0"/>
              <a:t> </a:t>
            </a:r>
            <a:r>
              <a:rPr lang="pt-BR" dirty="0" err="1"/>
              <a:t>owner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5128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Perfis importantes no </a:t>
            </a:r>
            <a:r>
              <a:rPr lang="pt-BR" dirty="0" err="1">
                <a:latin typeface="Route 159 SemiBold" panose="00000700000000000000" pitchFamily="50" charset="0"/>
              </a:rPr>
              <a:t>Scrum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19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7" t="431" r="-8137" b="45601"/>
          <a:stretch/>
        </p:blipFill>
        <p:spPr/>
      </p:pic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Não é gerente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Não é líder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É um facilitador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Conhece bem o modelo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Solucionador de conflitos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Scrum</a:t>
            </a:r>
            <a:r>
              <a:rPr lang="pt-BR" dirty="0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512983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Perfis importantes no </a:t>
            </a:r>
            <a:r>
              <a:rPr lang="pt-BR" dirty="0" err="1">
                <a:latin typeface="Route 159 SemiBold" panose="00000700000000000000" pitchFamily="50" charset="0"/>
              </a:rPr>
              <a:t>Scrum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20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2" t="7124" r="1162" b="38908"/>
          <a:stretch/>
        </p:blipFill>
        <p:spPr/>
      </p:pic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Não é necessariamente dividida em papéis (analista, designer ...)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Todos interagem para desenvolver o produto em conjunto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Recomendado equipes de 6 a 10 pessoas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pt-BR" dirty="0" err="1"/>
              <a:t>Scrum</a:t>
            </a:r>
            <a:r>
              <a:rPr lang="pt-BR" dirty="0"/>
              <a:t> </a:t>
            </a:r>
            <a:r>
              <a:rPr lang="pt-BR" dirty="0" err="1"/>
              <a:t>team</a:t>
            </a:r>
            <a:r>
              <a:rPr lang="pt-BR" dirty="0"/>
              <a:t> (equipe de desenvolvimento)</a:t>
            </a:r>
          </a:p>
        </p:txBody>
      </p:sp>
    </p:spTree>
    <p:extLst>
      <p:ext uri="{BB962C8B-B14F-4D97-AF65-F5344CB8AC3E}">
        <p14:creationId xmlns:p14="http://schemas.microsoft.com/office/powerpoint/2010/main" val="30388115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Route 159 SemiBold" panose="00000700000000000000" pitchFamily="50" charset="0"/>
              </a:rPr>
              <a:t>Scrum</a:t>
            </a:r>
            <a:r>
              <a:rPr lang="pt-BR" dirty="0">
                <a:latin typeface="Route 159 SemiBold" panose="00000700000000000000" pitchFamily="50" charset="0"/>
              </a:rPr>
              <a:t> - Sprint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21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37" name="Espaço Reservado para Texto 3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38" name="Espaço Reservado para Texto 3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Ciclo de desenvolvimento de poucas semanas de duração (2 a 4 semanas)</a:t>
            </a:r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No início é feito um Sprint </a:t>
            </a:r>
            <a:r>
              <a:rPr lang="pt-BR" sz="2400" dirty="0" err="1">
                <a:latin typeface="Route 159 SemiBold" panose="00000700000000000000" pitchFamily="50" charset="0"/>
              </a:rPr>
              <a:t>planning</a:t>
            </a:r>
            <a:r>
              <a:rPr lang="pt-BR" sz="2400" dirty="0">
                <a:latin typeface="Route 159 SemiBold" panose="00000700000000000000" pitchFamily="50" charset="0"/>
              </a:rPr>
              <a:t> meeting</a:t>
            </a:r>
          </a:p>
        </p:txBody>
      </p:sp>
      <p:sp>
        <p:nvSpPr>
          <p:cNvPr id="40" name="Espaço Reservado para Texto 39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Equipe se compromete em desenvolver as atividades do Sprint </a:t>
            </a:r>
            <a:r>
              <a:rPr lang="pt-BR" sz="2400" dirty="0" err="1">
                <a:latin typeface="Route 159 SemiBold" panose="00000700000000000000" pitchFamily="50" charset="0"/>
              </a:rPr>
              <a:t>backlog</a:t>
            </a:r>
            <a:endParaRPr lang="pt-BR" sz="2400" dirty="0">
              <a:latin typeface="Route 159 SemiBold" panose="00000700000000000000" pitchFamily="50" charset="0"/>
            </a:endParaRPr>
          </a:p>
        </p:txBody>
      </p:sp>
      <p:sp>
        <p:nvSpPr>
          <p:cNvPr id="41" name="Espaço Reservado para Texto 4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 </a:t>
            </a:r>
            <a:r>
              <a:rPr lang="pt-BR" sz="2400" dirty="0" err="1">
                <a:latin typeface="Route 159 SemiBold" panose="00000700000000000000" pitchFamily="50" charset="0"/>
              </a:rPr>
              <a:t>product</a:t>
            </a:r>
            <a:r>
              <a:rPr lang="pt-BR" sz="2400" dirty="0">
                <a:latin typeface="Route 159 SemiBold" panose="00000700000000000000" pitchFamily="50" charset="0"/>
              </a:rPr>
              <a:t> </a:t>
            </a:r>
            <a:r>
              <a:rPr lang="pt-BR" sz="2400" dirty="0" err="1">
                <a:latin typeface="Route 159 SemiBold" panose="00000700000000000000" pitchFamily="50" charset="0"/>
              </a:rPr>
              <a:t>owner</a:t>
            </a:r>
            <a:r>
              <a:rPr lang="pt-BR" sz="2400" dirty="0">
                <a:latin typeface="Route 159 SemiBold" panose="00000700000000000000" pitchFamily="50" charset="0"/>
              </a:rPr>
              <a:t> se compromete a não trazer novas funcionalidades durante o </a:t>
            </a:r>
            <a:r>
              <a:rPr lang="pt-BR" sz="2400" dirty="0" err="1">
                <a:latin typeface="Route 159 SemiBold" panose="00000700000000000000" pitchFamily="50" charset="0"/>
              </a:rPr>
              <a:t>sprint</a:t>
            </a:r>
            <a:endParaRPr lang="pt-BR" sz="2400" dirty="0">
              <a:latin typeface="Route 159 SemiBold" panose="00000700000000000000" pitchFamily="50" charset="0"/>
            </a:endParaRPr>
          </a:p>
        </p:txBody>
      </p:sp>
      <p:pic>
        <p:nvPicPr>
          <p:cNvPr id="44" name="Imagem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9749"/>
            <a:ext cx="7951742" cy="607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6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ço Reservado para Imagem 11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" r="182"/>
          <a:stretch>
            <a:fillRect/>
          </a:stretch>
        </p:blipFill>
        <p:spPr/>
      </p:pic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9143206" y="8262308"/>
            <a:ext cx="9142413" cy="1170617"/>
          </a:xfrm>
        </p:spPr>
        <p:txBody>
          <a:bodyPr/>
          <a:lstStyle/>
          <a:p>
            <a:r>
              <a:rPr lang="pt-BR" dirty="0"/>
              <a:t>Quadro de atividades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18972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Route 159 SemiBold" panose="00000700000000000000" pitchFamily="50" charset="0"/>
              </a:rPr>
              <a:t>Scrum</a:t>
            </a:r>
            <a:r>
              <a:rPr lang="pt-BR" dirty="0">
                <a:latin typeface="Route 159 SemiBold" panose="00000700000000000000" pitchFamily="50" charset="0"/>
              </a:rPr>
              <a:t> - Sprint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5" t="645" r="775" b="31975"/>
          <a:stretch/>
        </p:blipFill>
        <p:spPr/>
      </p:pic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u="sng" dirty="0">
                <a:latin typeface="Route 159 SemiBold" panose="00000700000000000000" pitchFamily="50" charset="0"/>
              </a:rPr>
              <a:t>Sprint </a:t>
            </a:r>
            <a:r>
              <a:rPr lang="pt-BR" sz="2800" u="sng" dirty="0" err="1">
                <a:latin typeface="Route 159 SemiBold" panose="00000700000000000000" pitchFamily="50" charset="0"/>
              </a:rPr>
              <a:t>Review</a:t>
            </a:r>
            <a:r>
              <a:rPr lang="pt-BR" sz="2800" u="sng" dirty="0">
                <a:latin typeface="Route 159 SemiBold" panose="00000700000000000000" pitchFamily="50" charset="0"/>
              </a:rPr>
              <a:t> Meeting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Verificar o que foi feito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Para depois partir para uma nova Sprint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Sprint</a:t>
            </a:r>
          </a:p>
          <a:p>
            <a:pPr algn="just"/>
            <a:endParaRPr lang="pt-BR" sz="2800" dirty="0">
              <a:latin typeface="Route 159 SemiBold" panose="00000700000000000000" pitchFamily="50" charset="0"/>
            </a:endParaRPr>
          </a:p>
          <a:p>
            <a:pPr algn="just"/>
            <a:r>
              <a:rPr lang="pt-BR" sz="2800" u="sng" dirty="0">
                <a:latin typeface="Route 159 SemiBold" panose="00000700000000000000" pitchFamily="50" charset="0"/>
              </a:rPr>
              <a:t>Sprint </a:t>
            </a:r>
            <a:r>
              <a:rPr lang="pt-BR" sz="2800" u="sng" dirty="0" err="1">
                <a:latin typeface="Route 159 SemiBold" panose="00000700000000000000" pitchFamily="50" charset="0"/>
              </a:rPr>
              <a:t>Retrospective</a:t>
            </a:r>
            <a:endParaRPr lang="pt-BR" sz="2800" u="sng" dirty="0">
              <a:latin typeface="Route 159 SemiBold" panose="00000700000000000000" pitchFamily="50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Avaliar a equipe e os processos (problemas, dificuldades, ideias ..)</a:t>
            </a:r>
          </a:p>
          <a:p>
            <a:pPr algn="just"/>
            <a:endParaRPr lang="pt-BR" sz="2800" dirty="0">
              <a:latin typeface="Route 159 SemiBold" panose="00000700000000000000" pitchFamily="50" charset="0"/>
            </a:endParaRPr>
          </a:p>
          <a:p>
            <a:pPr lvl="1" indent="0" algn="just">
              <a:buNone/>
            </a:pPr>
            <a:endParaRPr lang="pt-BR" sz="2800" dirty="0">
              <a:latin typeface="Route 159 SemiBold" panose="00000700000000000000" pitchFamily="50" charset="0"/>
            </a:endParaRPr>
          </a:p>
          <a:p>
            <a:pPr lvl="1" indent="0" algn="just">
              <a:buNone/>
            </a:pPr>
            <a:endParaRPr lang="pt-BR" sz="2800" dirty="0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Final da </a:t>
            </a:r>
            <a:r>
              <a:rPr lang="pt-BR" dirty="0" err="1"/>
              <a:t>sprint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2161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Route 159 SemiBold" panose="00000700000000000000" pitchFamily="50" charset="0"/>
              </a:rPr>
              <a:t>Scrum</a:t>
            </a:r>
            <a:r>
              <a:rPr lang="pt-BR" dirty="0">
                <a:latin typeface="Route 159 SemiBold" panose="00000700000000000000" pitchFamily="50" charset="0"/>
              </a:rPr>
              <a:t> – Daily </a:t>
            </a:r>
            <a:r>
              <a:rPr lang="pt-BR" dirty="0" err="1">
                <a:latin typeface="Route 159 SemiBold" panose="00000700000000000000" pitchFamily="50" charset="0"/>
              </a:rPr>
              <a:t>Scrum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 dirty="0">
              <a:latin typeface="Route 159 SemiBold" panose="00000700000000000000" pitchFamily="50" charset="0"/>
            </a:endParaRPr>
          </a:p>
        </p:txBody>
      </p:sp>
      <p:pic>
        <p:nvPicPr>
          <p:cNvPr id="8" name="Espaço Reservado para Imagem 7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8" b="2626"/>
          <a:stretch/>
        </p:blipFill>
        <p:spPr/>
      </p:pic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Objetivo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Falar o que fez no dia anterior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O que vai fazer no dia seguinte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O que impede de prosseguir</a:t>
            </a:r>
          </a:p>
          <a:p>
            <a:pPr algn="just"/>
            <a:endParaRPr lang="pt-BR" sz="2800" dirty="0">
              <a:latin typeface="Route 159 SemiBold" panose="00000700000000000000" pitchFamily="50" charset="0"/>
            </a:endParaRPr>
          </a:p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Reuniões rápidas em pé, em frente ao quadro de anotações, pois é uma boa maneira de dissipar o cansaço</a:t>
            </a:r>
          </a:p>
          <a:p>
            <a:pPr algn="just"/>
            <a:endParaRPr lang="pt-BR" sz="2800" dirty="0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Reuniões diárias</a:t>
            </a:r>
          </a:p>
        </p:txBody>
      </p:sp>
    </p:spTree>
    <p:extLst>
      <p:ext uri="{BB962C8B-B14F-4D97-AF65-F5344CB8AC3E}">
        <p14:creationId xmlns:p14="http://schemas.microsoft.com/office/powerpoint/2010/main" val="1502404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2" b="-311"/>
          <a:stretch/>
        </p:blipFill>
        <p:spPr/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0" y="2775594"/>
            <a:ext cx="4017963" cy="1929756"/>
          </a:xfrm>
        </p:spPr>
        <p:txBody>
          <a:bodyPr>
            <a:normAutofit fontScale="90000"/>
          </a:bodyPr>
          <a:lstStyle/>
          <a:p>
            <a:r>
              <a:rPr lang="pt-BR" dirty="0"/>
              <a:t>Visão geral do </a:t>
            </a:r>
            <a:r>
              <a:rPr lang="pt-BR" dirty="0" err="1"/>
              <a:t>scrum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25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27553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96" t="-660" r="-16173" b="1659"/>
          <a:stretch/>
        </p:blipFill>
        <p:spPr/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XP – Extreme </a:t>
            </a:r>
            <a:r>
              <a:rPr lang="pt-BR" dirty="0" err="1">
                <a:latin typeface="Route 159 SemiBold" panose="00000700000000000000" pitchFamily="50" charset="0"/>
              </a:rPr>
              <a:t>Programming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Foi baseada em diversos valores, princípios e regras como: simplicidade, respeito, comunicação, feedback, coragem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190500" y="2731232"/>
            <a:ext cx="6534150" cy="4032448"/>
          </a:xfrm>
        </p:spPr>
        <p:txBody>
          <a:bodyPr>
            <a:norm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Surgiu nos EUA na década de 1990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Inicialmente adequada a equipes pequenas e médias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Codificação é a principal tarefa</a:t>
            </a:r>
          </a:p>
        </p:txBody>
      </p:sp>
    </p:spTree>
    <p:extLst>
      <p:ext uri="{BB962C8B-B14F-4D97-AF65-F5344CB8AC3E}">
        <p14:creationId xmlns:p14="http://schemas.microsoft.com/office/powerpoint/2010/main" val="3366448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XP - Valores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27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Simplicidade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>
          <a:xfrm>
            <a:off x="2709066" y="3884782"/>
            <a:ext cx="6147552" cy="5548006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Route 159 SemiBold" panose="00000700000000000000" pitchFamily="50" charset="0"/>
              </a:rPr>
              <a:t>Concentrar nas atividades </a:t>
            </a:r>
            <a:r>
              <a:rPr lang="pt-BR" sz="2400">
                <a:latin typeface="Route 159 SemiBold" panose="00000700000000000000" pitchFamily="50" charset="0"/>
              </a:rPr>
              <a:t>efetivamente necessárias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>
                <a:latin typeface="Route 159 SemiBold" panose="00000700000000000000" pitchFamily="50" charset="0"/>
              </a:rPr>
              <a:t>Assuma </a:t>
            </a:r>
            <a:r>
              <a:rPr lang="pt-BR" sz="2400" dirty="0">
                <a:latin typeface="Route 159 SemiBold" panose="00000700000000000000" pitchFamily="50" charset="0"/>
              </a:rPr>
              <a:t>a solução </a:t>
            </a:r>
            <a:r>
              <a:rPr lang="pt-BR" sz="2400" b="1" dirty="0">
                <a:latin typeface="Route 159 SemiBold" panose="00000700000000000000" pitchFamily="50" charset="0"/>
              </a:rPr>
              <a:t>mais simples </a:t>
            </a:r>
            <a:r>
              <a:rPr lang="pt-BR" sz="2400" dirty="0">
                <a:latin typeface="Route 159 SemiBold" panose="00000700000000000000" pitchFamily="50" charset="0"/>
              </a:rPr>
              <a:t>como a melhor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Route 159 SemiBold" panose="00000700000000000000" pitchFamily="50" charset="0"/>
              </a:rPr>
              <a:t>Use as tecnologias, algoritmos e técnicas mais simples que permitirão atender aos requisitos do usuário-final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dirty="0">
                <a:latin typeface="Route 159 SemiBold" panose="00000700000000000000" pitchFamily="50" charset="0"/>
              </a:rPr>
              <a:t>Design</a:t>
            </a:r>
            <a:r>
              <a:rPr lang="pt-BR" sz="2400" dirty="0">
                <a:latin typeface="Route 159 SemiBold" panose="00000700000000000000" pitchFamily="50" charset="0"/>
              </a:rPr>
              <a:t>, </a:t>
            </a:r>
            <a:r>
              <a:rPr lang="pt-BR" sz="2400" b="1" dirty="0">
                <a:latin typeface="Route 159 SemiBold" panose="00000700000000000000" pitchFamily="50" charset="0"/>
              </a:rPr>
              <a:t>processo </a:t>
            </a:r>
            <a:r>
              <a:rPr lang="pt-BR" sz="2400" dirty="0">
                <a:latin typeface="Route 159 SemiBold" panose="00000700000000000000" pitchFamily="50" charset="0"/>
              </a:rPr>
              <a:t>e </a:t>
            </a:r>
            <a:r>
              <a:rPr lang="pt-BR" sz="2400" b="1" dirty="0">
                <a:latin typeface="Route 159 SemiBold" panose="00000700000000000000" pitchFamily="50" charset="0"/>
              </a:rPr>
              <a:t>código </a:t>
            </a:r>
            <a:r>
              <a:rPr lang="pt-BR" sz="2400" dirty="0">
                <a:latin typeface="Route 159 SemiBold" panose="00000700000000000000" pitchFamily="50" charset="0"/>
              </a:rPr>
              <a:t>podem ser simplificados a qualquer momento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Respeito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Route 159 SemiBold" panose="00000700000000000000" pitchFamily="50" charset="0"/>
              </a:rPr>
              <a:t>Respeito entre os membros da equipe, assim como entre a equipe e o cliente</a:t>
            </a:r>
          </a:p>
        </p:txBody>
      </p:sp>
    </p:spTree>
    <p:extLst>
      <p:ext uri="{BB962C8B-B14F-4D97-AF65-F5344CB8AC3E}">
        <p14:creationId xmlns:p14="http://schemas.microsoft.com/office/powerpoint/2010/main" val="33659693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XP - Valores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7"/>
          </p:nvPr>
        </p:nvSpPr>
        <p:spPr>
          <a:xfrm>
            <a:off x="304800" y="3103641"/>
            <a:ext cx="7931427" cy="2823902"/>
          </a:xfrm>
        </p:spPr>
        <p:txBody>
          <a:bodyPr/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XP prioriza comunicação de boa qualidade preferindo encontros presenciais.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Encontro presenciais &gt; videoconferências &gt; telefonemas &gt; e-mails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Buscar obter feedback o quanto antes para evitar eventuais </a:t>
            </a:r>
            <a:r>
              <a:rPr lang="pt-BR" sz="2800" b="1" dirty="0">
                <a:latin typeface="Route 159 SemiBold" panose="00000700000000000000" pitchFamily="50" charset="0"/>
              </a:rPr>
              <a:t>falhas </a:t>
            </a:r>
            <a:r>
              <a:rPr lang="pt-BR" sz="2800" dirty="0">
                <a:latin typeface="Route 159 SemiBold" panose="00000700000000000000" pitchFamily="50" charset="0"/>
              </a:rPr>
              <a:t>de comunicação e aumento do </a:t>
            </a:r>
            <a:r>
              <a:rPr lang="pt-BR" sz="2800" b="1" dirty="0">
                <a:latin typeface="Route 159 SemiBold" panose="00000700000000000000" pitchFamily="50" charset="0"/>
              </a:rPr>
              <a:t>custo </a:t>
            </a:r>
            <a:r>
              <a:rPr lang="pt-BR" sz="2800" dirty="0">
                <a:latin typeface="Route 159 SemiBold" panose="00000700000000000000" pitchFamily="50" charset="0"/>
              </a:rPr>
              <a:t>da correção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Cliente sabe se o produto que está sendo desenvolvido </a:t>
            </a:r>
            <a:r>
              <a:rPr lang="pt-BR" sz="2800" b="1" dirty="0">
                <a:latin typeface="Route 159 SemiBold" panose="00000700000000000000" pitchFamily="50" charset="0"/>
              </a:rPr>
              <a:t>atende </a:t>
            </a:r>
            <a:r>
              <a:rPr lang="pt-BR" sz="2800" dirty="0">
                <a:latin typeface="Route 159 SemiBold" panose="00000700000000000000" pitchFamily="50" charset="0"/>
              </a:rPr>
              <a:t>às suas necessidades;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5400" dirty="0">
                <a:latin typeface="Route 159 SemiBold" panose="00000700000000000000" pitchFamily="50" charset="0"/>
              </a:rPr>
              <a:t>Comunicação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pt-BR" sz="5400" dirty="0">
                <a:latin typeface="Route 159 SemiBold" panose="00000700000000000000" pitchFamily="50" charset="0"/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4948354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Princípios básicos da XP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29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SemiBold" panose="00000700000000000000" pitchFamily="50" charset="0"/>
              </a:rPr>
              <a:t>A partir dos valores, os princípios básicos do XP são definidos: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Modele um pouco, mostre ao cliente e então modele novamente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Deixe o modelo tão simples quanto possível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Os problemas devem ser solucionados com um conjunto de pequenas modificações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Aceite as mudanças e tenha coragem para reconstruir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 qualidade do trabalho nunca deve ser comprometida. Importância da codificação e dos testes antes da programação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Feedback rápido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Trabalho de Alta Qualidade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/>
              <a:t>Presumir Simplicidade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/>
              <a:t>Mudanças incrementais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Abraçar mudanças</a:t>
            </a:r>
          </a:p>
        </p:txBody>
      </p:sp>
    </p:spTree>
    <p:extLst>
      <p:ext uri="{BB962C8B-B14F-4D97-AF65-F5344CB8AC3E}">
        <p14:creationId xmlns:p14="http://schemas.microsoft.com/office/powerpoint/2010/main" val="3636574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7" b="1797"/>
          <a:stretch>
            <a:fillRect/>
          </a:stretch>
        </p:blipFill>
        <p:spPr/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 da XP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480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Dúvidas ou Sugestões?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Desde já, agradeço a 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31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60379"/>
      </p:ext>
    </p:extLst>
  </p:cSld>
  <p:clrMapOvr>
    <a:masterClrMapping/>
  </p:clrMapOvr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16832</TotalTime>
  <Words>1182</Words>
  <Application>Microsoft Office PowerPoint</Application>
  <PresentationFormat>Personalizar</PresentationFormat>
  <Paragraphs>227</Paragraphs>
  <Slides>31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31</vt:i4>
      </vt:variant>
    </vt:vector>
  </HeadingPairs>
  <TitlesOfParts>
    <vt:vector size="44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Métodos Ágeis</vt:lpstr>
      <vt:lpstr>Conteúdo da aula</vt:lpstr>
      <vt:lpstr>Introdução</vt:lpstr>
      <vt:lpstr>Introdução</vt:lpstr>
      <vt:lpstr>Temos um problema</vt:lpstr>
      <vt:lpstr>Ágil</vt:lpstr>
      <vt:lpstr>1980 - 1990</vt:lpstr>
      <vt:lpstr>Manifesto Ágil</vt:lpstr>
      <vt:lpstr>Manifesto Ágil</vt:lpstr>
      <vt:lpstr>Manifesto Ágil</vt:lpstr>
      <vt:lpstr>Manifesto Ágil</vt:lpstr>
      <vt:lpstr>Manifesto Ágil</vt:lpstr>
      <vt:lpstr>Manifesto Ágil</vt:lpstr>
      <vt:lpstr>Métodos Ágeis</vt:lpstr>
      <vt:lpstr>Métodos Ágeis</vt:lpstr>
      <vt:lpstr>Scrum</vt:lpstr>
      <vt:lpstr>Perfis importantes no Scrum</vt:lpstr>
      <vt:lpstr>Perfis importantes no Scrum</vt:lpstr>
      <vt:lpstr>Perfis importantes no Scrum</vt:lpstr>
      <vt:lpstr>Perfis importantes no Scrum</vt:lpstr>
      <vt:lpstr>Scrum - Sprint</vt:lpstr>
      <vt:lpstr>Quadro de atividades</vt:lpstr>
      <vt:lpstr>Scrum - Sprint</vt:lpstr>
      <vt:lpstr>Scrum – Daily Scrum</vt:lpstr>
      <vt:lpstr>Visão geral do scrum</vt:lpstr>
      <vt:lpstr>XP – Extreme Programming</vt:lpstr>
      <vt:lpstr>XP - Valores</vt:lpstr>
      <vt:lpstr>XP - Valores</vt:lpstr>
      <vt:lpstr>Princípios básicos da XP</vt:lpstr>
      <vt:lpstr>Atividades da XP</vt:lpstr>
      <vt:lpstr>Dúvidas ou Sugestões?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Vega</dc:title>
  <dc:creator>Daniel Marques</dc:creator>
  <cp:lastModifiedBy>Daniel Marques</cp:lastModifiedBy>
  <cp:revision>464</cp:revision>
  <dcterms:created xsi:type="dcterms:W3CDTF">2015-09-05T11:42:45Z</dcterms:created>
  <dcterms:modified xsi:type="dcterms:W3CDTF">2026-05-05T00:05:23Z</dcterms:modified>
</cp:coreProperties>
</file>